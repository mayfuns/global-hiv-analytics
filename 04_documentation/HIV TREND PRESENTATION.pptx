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5"/>
  </p:notesMasterIdLst>
  <p:sldIdLst>
    <p:sldId id="256" r:id="rId2"/>
    <p:sldId id="257" r:id="rId3"/>
    <p:sldId id="258" r:id="rId4"/>
    <p:sldId id="259" r:id="rId5"/>
    <p:sldId id="261" r:id="rId6"/>
    <p:sldId id="270" r:id="rId7"/>
    <p:sldId id="262" r:id="rId8"/>
    <p:sldId id="263" r:id="rId9"/>
    <p:sldId id="264" r:id="rId10"/>
    <p:sldId id="265"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F4FA"/>
    <a:srgbClr val="25E0D7"/>
    <a:srgbClr val="1E3A8A"/>
    <a:srgbClr val="0B1120"/>
    <a:srgbClr val="06B6D4"/>
    <a:srgbClr val="60A5FA"/>
    <a:srgbClr val="F59E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5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m Adetoyi" userId="7e81e1d6fa8fc368" providerId="LiveId" clId="{3C3DC834-3685-4743-B832-70FC510EA59C}"/>
    <pc:docChg chg="custSel modSld">
      <pc:chgData name="Mariam Adetoyi" userId="7e81e1d6fa8fc368" providerId="LiveId" clId="{3C3DC834-3685-4743-B832-70FC510EA59C}" dt="2026-06-30T16:11:12.520" v="8" actId="478"/>
      <pc:docMkLst>
        <pc:docMk/>
      </pc:docMkLst>
      <pc:sldChg chg="delSp modSp mod">
        <pc:chgData name="Mariam Adetoyi" userId="7e81e1d6fa8fc368" providerId="LiveId" clId="{3C3DC834-3685-4743-B832-70FC510EA59C}" dt="2026-06-30T16:10:55.275" v="6" actId="478"/>
        <pc:sldMkLst>
          <pc:docMk/>
          <pc:sldMk cId="643456036" sldId="263"/>
        </pc:sldMkLst>
        <pc:spChg chg="del mod">
          <ac:chgData name="Mariam Adetoyi" userId="7e81e1d6fa8fc368" providerId="LiveId" clId="{3C3DC834-3685-4743-B832-70FC510EA59C}" dt="2026-06-30T16:10:55.275" v="6" actId="478"/>
          <ac:spMkLst>
            <pc:docMk/>
            <pc:sldMk cId="643456036" sldId="263"/>
            <ac:spMk id="6" creationId="{8DDF59C0-0739-5B46-939E-59ACE91D8384}"/>
          </ac:spMkLst>
        </pc:spChg>
      </pc:sldChg>
      <pc:sldChg chg="delSp mod">
        <pc:chgData name="Mariam Adetoyi" userId="7e81e1d6fa8fc368" providerId="LiveId" clId="{3C3DC834-3685-4743-B832-70FC510EA59C}" dt="2026-06-30T16:10:42.917" v="2" actId="478"/>
        <pc:sldMkLst>
          <pc:docMk/>
          <pc:sldMk cId="6618792" sldId="264"/>
        </pc:sldMkLst>
        <pc:spChg chg="del">
          <ac:chgData name="Mariam Adetoyi" userId="7e81e1d6fa8fc368" providerId="LiveId" clId="{3C3DC834-3685-4743-B832-70FC510EA59C}" dt="2026-06-30T16:10:42.917" v="2" actId="478"/>
          <ac:spMkLst>
            <pc:docMk/>
            <pc:sldMk cId="6618792" sldId="264"/>
            <ac:spMk id="6" creationId="{76BAD9AF-7C85-6877-C3BE-3F61EB68A808}"/>
          </ac:spMkLst>
        </pc:spChg>
      </pc:sldChg>
      <pc:sldChg chg="delSp mod">
        <pc:chgData name="Mariam Adetoyi" userId="7e81e1d6fa8fc368" providerId="LiveId" clId="{3C3DC834-3685-4743-B832-70FC510EA59C}" dt="2026-06-30T16:10:31.675" v="1" actId="478"/>
        <pc:sldMkLst>
          <pc:docMk/>
          <pc:sldMk cId="4099557665" sldId="268"/>
        </pc:sldMkLst>
        <pc:spChg chg="del">
          <ac:chgData name="Mariam Adetoyi" userId="7e81e1d6fa8fc368" providerId="LiveId" clId="{3C3DC834-3685-4743-B832-70FC510EA59C}" dt="2026-06-30T16:10:31.675" v="1" actId="478"/>
          <ac:spMkLst>
            <pc:docMk/>
            <pc:sldMk cId="4099557665" sldId="268"/>
            <ac:spMk id="36" creationId="{2A7B709F-DEC4-7E9D-D5E5-7A61FECC497C}"/>
          </ac:spMkLst>
        </pc:spChg>
      </pc:sldChg>
      <pc:sldChg chg="delSp mod">
        <pc:chgData name="Mariam Adetoyi" userId="7e81e1d6fa8fc368" providerId="LiveId" clId="{3C3DC834-3685-4743-B832-70FC510EA59C}" dt="2026-06-30T16:10:26.033" v="0" actId="478"/>
        <pc:sldMkLst>
          <pc:docMk/>
          <pc:sldMk cId="3544689739" sldId="269"/>
        </pc:sldMkLst>
        <pc:spChg chg="del">
          <ac:chgData name="Mariam Adetoyi" userId="7e81e1d6fa8fc368" providerId="LiveId" clId="{3C3DC834-3685-4743-B832-70FC510EA59C}" dt="2026-06-30T16:10:26.033" v="0" actId="478"/>
          <ac:spMkLst>
            <pc:docMk/>
            <pc:sldMk cId="3544689739" sldId="269"/>
            <ac:spMk id="6" creationId="{33AA47C8-ED6C-2FE7-7C04-546B4F17F915}"/>
          </ac:spMkLst>
        </pc:spChg>
      </pc:sldChg>
      <pc:sldChg chg="delSp mod">
        <pc:chgData name="Mariam Adetoyi" userId="7e81e1d6fa8fc368" providerId="LiveId" clId="{3C3DC834-3685-4743-B832-70FC510EA59C}" dt="2026-06-30T16:11:12.520" v="8" actId="478"/>
        <pc:sldMkLst>
          <pc:docMk/>
          <pc:sldMk cId="3988955302" sldId="270"/>
        </pc:sldMkLst>
        <pc:spChg chg="del">
          <ac:chgData name="Mariam Adetoyi" userId="7e81e1d6fa8fc368" providerId="LiveId" clId="{3C3DC834-3685-4743-B832-70FC510EA59C}" dt="2026-06-30T16:11:08.444" v="7" actId="478"/>
          <ac:spMkLst>
            <pc:docMk/>
            <pc:sldMk cId="3988955302" sldId="270"/>
            <ac:spMk id="5" creationId="{92BF7194-DE7B-C8FE-3795-1E9304A83F4F}"/>
          </ac:spMkLst>
        </pc:spChg>
        <pc:spChg chg="del">
          <ac:chgData name="Mariam Adetoyi" userId="7e81e1d6fa8fc368" providerId="LiveId" clId="{3C3DC834-3685-4743-B832-70FC510EA59C}" dt="2026-06-30T16:11:12.520" v="8" actId="478"/>
          <ac:spMkLst>
            <pc:docMk/>
            <pc:sldMk cId="3988955302" sldId="270"/>
            <ac:spMk id="6" creationId="{5CC2E883-54BC-EABD-5B50-9819BCE8D5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95B39-6487-410B-AEDB-8AE790DC194A}"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57406-60F6-4C1D-B4C5-BB1B07B41D45}" type="slidenum">
              <a:rPr lang="en-US" smtClean="0"/>
              <a:t>‹#›</a:t>
            </a:fld>
            <a:endParaRPr lang="en-US"/>
          </a:p>
        </p:txBody>
      </p:sp>
    </p:spTree>
    <p:extLst>
      <p:ext uri="{BB962C8B-B14F-4D97-AF65-F5344CB8AC3E}">
        <p14:creationId xmlns:p14="http://schemas.microsoft.com/office/powerpoint/2010/main" val="3571299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657406-60F6-4C1D-B4C5-BB1B07B41D45}" type="slidenum">
              <a:rPr lang="en-US" smtClean="0"/>
              <a:t>4</a:t>
            </a:fld>
            <a:endParaRPr lang="en-US"/>
          </a:p>
        </p:txBody>
      </p:sp>
    </p:spTree>
    <p:extLst>
      <p:ext uri="{BB962C8B-B14F-4D97-AF65-F5344CB8AC3E}">
        <p14:creationId xmlns:p14="http://schemas.microsoft.com/office/powerpoint/2010/main" val="1324634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657406-60F6-4C1D-B4C5-BB1B07B41D45}" type="slidenum">
              <a:rPr lang="en-US" smtClean="0"/>
              <a:t>7</a:t>
            </a:fld>
            <a:endParaRPr lang="en-US"/>
          </a:p>
        </p:txBody>
      </p:sp>
    </p:spTree>
    <p:extLst>
      <p:ext uri="{BB962C8B-B14F-4D97-AF65-F5344CB8AC3E}">
        <p14:creationId xmlns:p14="http://schemas.microsoft.com/office/powerpoint/2010/main" val="1163919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1">
              <a:rPr lang="en-US" smtClean="0"/>
              <a:t>6/30/2026</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18986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1">
              <a:rPr lang="en-US" smtClean="0"/>
              <a:t>6/30/2026</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74661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1">
              <a:rPr lang="en-US" smtClean="0"/>
              <a:t>6/30/2026</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87887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1">
              <a:rPr lang="en-US" smtClean="0"/>
              <a:t>6/30/2026</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05067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1">
              <a:rPr lang="en-US" smtClean="0"/>
              <a:t>6/30/2026</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203297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1">
              <a:rPr lang="en-US" smtClean="0"/>
              <a:t>6/30/2026</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594492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1">
              <a:rPr lang="en-US" smtClean="0"/>
              <a:t>6/30/2026</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94825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1">
              <a:rPr lang="en-US" smtClean="0"/>
              <a:t>6/30/2026</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273448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378CDE2-0C1B-D3BE-F399-98D983EF4534}"/>
              </a:ext>
            </a:extLst>
          </p:cNvPr>
          <p:cNvSpPr>
            <a:spLocks noGrp="1"/>
          </p:cNvSpPr>
          <p:nvPr>
            <p:ph type="pic" idx="1"/>
          </p:nvPr>
        </p:nvSpPr>
        <p:spPr>
          <a:xfrm>
            <a:off x="5105400" y="838200"/>
            <a:ext cx="624998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1">
              <a:rPr lang="en-US" smtClean="0"/>
              <a:t>6/30/2026</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560142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1">
              <a:rPr lang="en-US" smtClean="0"/>
              <a:t>6/30/2026</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460635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1">
              <a:rPr lang="en-US" smtClean="0"/>
              <a:t>6/30/2026</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050954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1">
              <a:rPr lang="en-US" smtClean="0"/>
              <a:t>6/30/2026</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smtClean="0"/>
              <a:t>‹#›</a:t>
            </a:fld>
            <a:endParaRPr lang="en-US" dirty="0"/>
          </a:p>
        </p:txBody>
      </p:sp>
    </p:spTree>
    <p:extLst>
      <p:ext uri="{BB962C8B-B14F-4D97-AF65-F5344CB8AC3E}">
        <p14:creationId xmlns:p14="http://schemas.microsoft.com/office/powerpoint/2010/main" val="2465132715"/>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FB4C7-A96F-1B0C-EA00-0C2FE0BA8A7E}"/>
              </a:ext>
            </a:extLst>
          </p:cNvPr>
          <p:cNvSpPr>
            <a:spLocks noGrp="1"/>
          </p:cNvSpPr>
          <p:nvPr>
            <p:ph type="ctrTitle"/>
          </p:nvPr>
        </p:nvSpPr>
        <p:spPr>
          <a:xfrm>
            <a:off x="353403" y="158292"/>
            <a:ext cx="11485193" cy="1064333"/>
          </a:xfrm>
        </p:spPr>
        <p:txBody>
          <a:bodyPr vert="horz" lIns="91440" tIns="45720" rIns="91440" bIns="45720" rtlCol="0" anchor="t">
            <a:noAutofit/>
          </a:bodyPr>
          <a:lstStyle/>
          <a:p>
            <a:pPr algn="ctr">
              <a:lnSpc>
                <a:spcPct val="100000"/>
              </a:lnSpc>
            </a:pPr>
            <a:r>
              <a:rPr lang="en-US" sz="3600" dirty="0">
                <a:latin typeface="Calibri" panose="020F0502020204030204" pitchFamily="34" charset="0"/>
                <a:ea typeface="Calibri" panose="020F0502020204030204" pitchFamily="34" charset="0"/>
                <a:cs typeface="Calibri" panose="020F0502020204030204" pitchFamily="34" charset="0"/>
              </a:rPr>
              <a:t>GLOBAL HIV TRENDS AND TREATMENT</a:t>
            </a:r>
            <a:br>
              <a:rPr lang="en-US" sz="3600" dirty="0">
                <a:latin typeface="Calibri" panose="020F0502020204030204" pitchFamily="34" charset="0"/>
                <a:ea typeface="Calibri" panose="020F0502020204030204" pitchFamily="34" charset="0"/>
                <a:cs typeface="Calibri" panose="020F0502020204030204" pitchFamily="34" charset="0"/>
              </a:rPr>
            </a:br>
            <a:r>
              <a:rPr lang="en-US" sz="3600" dirty="0">
                <a:latin typeface="Calibri" panose="020F0502020204030204" pitchFamily="34" charset="0"/>
                <a:ea typeface="Calibri" panose="020F0502020204030204" pitchFamily="34" charset="0"/>
                <a:cs typeface="Calibri" panose="020F0502020204030204" pitchFamily="34" charset="0"/>
              </a:rPr>
              <a:t>EFFECTIVENESS ANALYSIS</a:t>
            </a:r>
          </a:p>
        </p:txBody>
      </p:sp>
      <p:sp>
        <p:nvSpPr>
          <p:cNvPr id="3" name="Subtitle 2">
            <a:extLst>
              <a:ext uri="{FF2B5EF4-FFF2-40B4-BE49-F238E27FC236}">
                <a16:creationId xmlns:a16="http://schemas.microsoft.com/office/drawing/2014/main" id="{1CDDA70D-BCAA-0354-276B-CCDA0811F500}"/>
              </a:ext>
            </a:extLst>
          </p:cNvPr>
          <p:cNvSpPr>
            <a:spLocks noGrp="1"/>
          </p:cNvSpPr>
          <p:nvPr>
            <p:ph type="subTitle" idx="1"/>
          </p:nvPr>
        </p:nvSpPr>
        <p:spPr>
          <a:xfrm>
            <a:off x="243850" y="4680299"/>
            <a:ext cx="3346111" cy="1787703"/>
          </a:xfrm>
          <a:solidFill>
            <a:srgbClr val="0B1120"/>
          </a:solidFill>
        </p:spPr>
        <p:txBody>
          <a:bodyPr vert="horz" lIns="91440" tIns="45720" rIns="91440" bIns="45720" rtlCol="0" anchor="b">
            <a:normAutofit lnSpcReduction="10000"/>
          </a:bodyPr>
          <a:lstStyle/>
          <a:p>
            <a:r>
              <a:rPr lang="en-US" dirty="0"/>
              <a:t>Capstone Project POD 3</a:t>
            </a:r>
            <a:br>
              <a:rPr lang="en-US" dirty="0"/>
            </a:br>
            <a:r>
              <a:rPr lang="en-US" dirty="0"/>
              <a:t>Specialization: Healthcare</a:t>
            </a:r>
            <a:br>
              <a:rPr lang="en-US" dirty="0"/>
            </a:br>
            <a:r>
              <a:rPr lang="en-US" dirty="0"/>
              <a:t>Tools Used: Power BI</a:t>
            </a:r>
            <a:br>
              <a:rPr lang="en-US" dirty="0"/>
            </a:br>
            <a:r>
              <a:rPr lang="en-US" dirty="0"/>
              <a:t>Data: WHO HIV FROM 2000 - 2024</a:t>
            </a:r>
          </a:p>
        </p:txBody>
      </p:sp>
      <p:pic>
        <p:nvPicPr>
          <p:cNvPr id="8" name="Picture 7" descr="The image displays a data visualization of HIV statistics, including global prevalence, new infections, treatment coverage, and death rates by country.&#10;&#10;AI-generated content may be incorrect.">
            <a:extLst>
              <a:ext uri="{FF2B5EF4-FFF2-40B4-BE49-F238E27FC236}">
                <a16:creationId xmlns:a16="http://schemas.microsoft.com/office/drawing/2014/main" id="{401638A8-E330-5695-41C2-E1D36030DC40}"/>
              </a:ext>
            </a:extLst>
          </p:cNvPr>
          <p:cNvPicPr>
            <a:picLocks noChangeAspect="1"/>
          </p:cNvPicPr>
          <p:nvPr/>
        </p:nvPicPr>
        <p:blipFill>
          <a:blip r:embed="rId2"/>
          <a:stretch>
            <a:fillRect/>
          </a:stretch>
        </p:blipFill>
        <p:spPr>
          <a:xfrm>
            <a:off x="3399646" y="1678142"/>
            <a:ext cx="8438950" cy="4723544"/>
          </a:xfrm>
          <a:prstGeom prst="rect">
            <a:avLst/>
          </a:prstGeom>
        </p:spPr>
      </p:pic>
    </p:spTree>
    <p:extLst>
      <p:ext uri="{BB962C8B-B14F-4D97-AF65-F5344CB8AC3E}">
        <p14:creationId xmlns:p14="http://schemas.microsoft.com/office/powerpoint/2010/main" val="627262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2F200-6FE0-4116-09C3-3566B7B00D6D}"/>
              </a:ext>
            </a:extLst>
          </p:cNvPr>
          <p:cNvSpPr>
            <a:spLocks noGrp="1"/>
          </p:cNvSpPr>
          <p:nvPr>
            <p:ph type="title"/>
          </p:nvPr>
        </p:nvSpPr>
        <p:spPr>
          <a:xfrm>
            <a:off x="0" y="0"/>
            <a:ext cx="9956747" cy="924674"/>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Business Background &amp; Problem</a:t>
            </a:r>
          </a:p>
        </p:txBody>
      </p:sp>
      <p:sp>
        <p:nvSpPr>
          <p:cNvPr id="4" name="Shape 4">
            <a:extLst>
              <a:ext uri="{FF2B5EF4-FFF2-40B4-BE49-F238E27FC236}">
                <a16:creationId xmlns:a16="http://schemas.microsoft.com/office/drawing/2014/main" id="{5C116BC0-4241-7634-D0C8-B76307E9B379}"/>
              </a:ext>
            </a:extLst>
          </p:cNvPr>
          <p:cNvSpPr/>
          <p:nvPr/>
        </p:nvSpPr>
        <p:spPr>
          <a:xfrm>
            <a:off x="260104" y="1202204"/>
            <a:ext cx="5257800" cy="4251960"/>
          </a:xfrm>
          <a:prstGeom prst="roundRect">
            <a:avLst>
              <a:gd name="adj" fmla="val 1720"/>
            </a:avLst>
          </a:prstGeom>
          <a:solidFill>
            <a:srgbClr val="E6F4FA"/>
          </a:solidFill>
          <a:ln w="15240">
            <a:solidFill>
              <a:srgbClr val="B7DFF0"/>
            </a:solidFill>
            <a:prstDash val="solid"/>
          </a:ln>
        </p:spPr>
        <p:txBody>
          <a:bodyPr/>
          <a:lstStyle/>
          <a:p>
            <a:endParaRPr lang="en-US" dirty="0">
              <a:solidFill>
                <a:srgbClr val="111827"/>
              </a:solidFill>
            </a:endParaRPr>
          </a:p>
          <a:p>
            <a:r>
              <a:rPr lang="en-US" sz="2000" b="1" dirty="0">
                <a:solidFill>
                  <a:srgbClr val="1F2937"/>
                </a:solidFill>
                <a:latin typeface="Calibri" panose="020F0502020204030204" pitchFamily="34" charset="0"/>
                <a:ea typeface="Calibri" panose="020F0502020204030204" pitchFamily="34" charset="0"/>
                <a:cs typeface="Calibri" panose="020F0502020204030204" pitchFamily="34" charset="0"/>
              </a:rPr>
              <a:t>Objective </a:t>
            </a:r>
          </a:p>
          <a:p>
            <a:endParaRPr lang="en-US" b="1" dirty="0">
              <a:solidFill>
                <a:srgbClr val="1F2937"/>
              </a:solidFill>
            </a:endParaRPr>
          </a:p>
          <a:p>
            <a:pPr>
              <a:lnSpc>
                <a:spcPct val="200000"/>
              </a:lnSpc>
            </a:pPr>
            <a:r>
              <a:rPr lang="en-US" sz="1400" dirty="0">
                <a:solidFill>
                  <a:srgbClr val="111827"/>
                </a:solidFill>
                <a:latin typeface="Times New Roman" panose="02020603050405020304" pitchFamily="18" charset="0"/>
                <a:ea typeface="Calibri" panose="020F0502020204030204" pitchFamily="34" charset="0"/>
                <a:cs typeface="Times New Roman" panose="02020603050405020304" pitchFamily="18" charset="0"/>
              </a:rPr>
              <a:t>This project analyses global HIV trends, treatment access, mortality, survival rate, and country-level risk using Power BI. The aim is to understand whether infections and deaths are declining, whether ART coverage improves survival, and which countries require urgent intervention.</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hape 7">
            <a:extLst>
              <a:ext uri="{FF2B5EF4-FFF2-40B4-BE49-F238E27FC236}">
                <a16:creationId xmlns:a16="http://schemas.microsoft.com/office/drawing/2014/main" id="{354F894E-1703-3817-A66E-61C64A1DCEE6}"/>
              </a:ext>
            </a:extLst>
          </p:cNvPr>
          <p:cNvSpPr/>
          <p:nvPr/>
        </p:nvSpPr>
        <p:spPr>
          <a:xfrm>
            <a:off x="5931971" y="1202204"/>
            <a:ext cx="5166360" cy="1144800"/>
          </a:xfrm>
          <a:prstGeom prst="roundRect">
            <a:avLst>
              <a:gd name="adj" fmla="val 6400"/>
            </a:avLst>
          </a:prstGeom>
          <a:solidFill>
            <a:srgbClr val="E6F4FA"/>
          </a:solidFill>
          <a:ln w="15240">
            <a:solidFill>
              <a:srgbClr val="B7DFF0"/>
            </a:solidFill>
            <a:prstDash val="solid"/>
          </a:ln>
        </p:spPr>
        <p:txBody>
          <a:bodyPr/>
          <a:lstStyle/>
          <a:p>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Public health focus</a:t>
            </a: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HIV burden, treatment effectiveness and country-level intervention priorities.</a:t>
            </a:r>
            <a:endParaRPr lang="en-US" sz="1400" dirty="0">
              <a:latin typeface="Times New Roman" panose="02020603050405020304" pitchFamily="18" charset="0"/>
              <a:cs typeface="Times New Roman" panose="02020603050405020304" pitchFamily="18" charset="0"/>
            </a:endParaRPr>
          </a:p>
          <a:p>
            <a:endParaRPr lang="en-GB" dirty="0"/>
          </a:p>
        </p:txBody>
      </p:sp>
      <p:sp>
        <p:nvSpPr>
          <p:cNvPr id="9" name="Shape 10">
            <a:extLst>
              <a:ext uri="{FF2B5EF4-FFF2-40B4-BE49-F238E27FC236}">
                <a16:creationId xmlns:a16="http://schemas.microsoft.com/office/drawing/2014/main" id="{C6161BE2-6B00-5F42-5561-9CC0A179DC05}"/>
              </a:ext>
            </a:extLst>
          </p:cNvPr>
          <p:cNvSpPr/>
          <p:nvPr/>
        </p:nvSpPr>
        <p:spPr>
          <a:xfrm>
            <a:off x="5931971" y="2634889"/>
            <a:ext cx="5166360" cy="1144800"/>
          </a:xfrm>
          <a:prstGeom prst="roundRect">
            <a:avLst>
              <a:gd name="adj" fmla="val 6400"/>
            </a:avLst>
          </a:prstGeom>
          <a:solidFill>
            <a:srgbClr val="E6F4FA"/>
          </a:solidFill>
          <a:ln w="15240">
            <a:solidFill>
              <a:srgbClr val="B7DFF0"/>
            </a:solidFill>
            <a:prstDash val="solid"/>
          </a:ln>
        </p:spPr>
        <p:txBody>
          <a:bodyPr/>
          <a:lstStyle/>
          <a:p>
            <a:pPr>
              <a:lnSpc>
                <a:spcPct val="150000"/>
              </a:lnSpc>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Analytical focus</a:t>
            </a: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Time-series trends, KPI development, country ranking and treatment access comparison.</a:t>
            </a:r>
            <a:endParaRPr lang="en-US" sz="1400" dirty="0">
              <a:latin typeface="Times New Roman" panose="02020603050405020304" pitchFamily="18" charset="0"/>
              <a:cs typeface="Times New Roman" panose="02020603050405020304" pitchFamily="18" charset="0"/>
            </a:endParaRPr>
          </a:p>
        </p:txBody>
      </p:sp>
      <p:sp>
        <p:nvSpPr>
          <p:cNvPr id="10" name="Shape 13">
            <a:extLst>
              <a:ext uri="{FF2B5EF4-FFF2-40B4-BE49-F238E27FC236}">
                <a16:creationId xmlns:a16="http://schemas.microsoft.com/office/drawing/2014/main" id="{15B24975-DFEA-DF0F-95CD-049248EEC29D}"/>
              </a:ext>
            </a:extLst>
          </p:cNvPr>
          <p:cNvSpPr/>
          <p:nvPr/>
        </p:nvSpPr>
        <p:spPr>
          <a:xfrm>
            <a:off x="5931971" y="4067575"/>
            <a:ext cx="5166360" cy="1144800"/>
          </a:xfrm>
          <a:prstGeom prst="roundRect">
            <a:avLst>
              <a:gd name="adj" fmla="val 4848"/>
            </a:avLst>
          </a:prstGeom>
          <a:solidFill>
            <a:srgbClr val="E6F4FA"/>
          </a:solidFill>
          <a:ln w="15240">
            <a:solidFill>
              <a:srgbClr val="B7DFF0"/>
            </a:solidFill>
            <a:prstDash val="solid"/>
          </a:ln>
        </p:spPr>
        <p:txBody>
          <a:bodyPr/>
          <a:lstStyle/>
          <a:p>
            <a:r>
              <a:rPr lang="en-US" sz="2000" b="1" dirty="0">
                <a:solidFill>
                  <a:srgbClr val="1F2937"/>
                </a:solidFill>
                <a:latin typeface="Calibri" panose="020F0502020204030204" pitchFamily="34" charset="0"/>
                <a:ea typeface="Calibri" panose="020F0502020204030204" pitchFamily="34" charset="0"/>
                <a:cs typeface="Calibri" panose="020F0502020204030204" pitchFamily="34" charset="0"/>
              </a:rPr>
              <a:t>Decision value</a:t>
            </a:r>
            <a:endParaRPr lang="en-US" sz="2000" dirty="0">
              <a:solidFill>
                <a:srgbClr val="111827"/>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The dashboard helps translate complex health data into insights that can guide resource allocation and policy decisions.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025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C19C-F073-AF49-6BE4-5CE8689E2456}"/>
              </a:ext>
            </a:extLst>
          </p:cNvPr>
          <p:cNvSpPr>
            <a:spLocks noGrp="1"/>
          </p:cNvSpPr>
          <p:nvPr>
            <p:ph type="title"/>
          </p:nvPr>
        </p:nvSpPr>
        <p:spPr>
          <a:xfrm>
            <a:off x="308387" y="620202"/>
            <a:ext cx="9956747" cy="81898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Problem Statement</a:t>
            </a:r>
          </a:p>
        </p:txBody>
      </p:sp>
      <p:sp>
        <p:nvSpPr>
          <p:cNvPr id="4" name="Text 4">
            <a:extLst>
              <a:ext uri="{FF2B5EF4-FFF2-40B4-BE49-F238E27FC236}">
                <a16:creationId xmlns:a16="http://schemas.microsoft.com/office/drawing/2014/main" id="{82C3C8DB-1E1E-229C-CFE7-B501296ED244}"/>
              </a:ext>
            </a:extLst>
          </p:cNvPr>
          <p:cNvSpPr/>
          <p:nvPr/>
        </p:nvSpPr>
        <p:spPr>
          <a:xfrm>
            <a:off x="426720" y="1552943"/>
            <a:ext cx="5669280" cy="320040"/>
          </a:xfrm>
          <a:prstGeom prst="rect">
            <a:avLst/>
          </a:prstGeom>
          <a:noFill/>
          <a:ln/>
        </p:spPr>
        <p:txBody>
          <a:bodyPr wrap="square" lIns="0" tIns="0" rIns="0" bIns="0" rtlCol="0" anchor="ct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Stakeholders need a unified analytical view to:</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5">
            <a:extLst>
              <a:ext uri="{FF2B5EF4-FFF2-40B4-BE49-F238E27FC236}">
                <a16:creationId xmlns:a16="http://schemas.microsoft.com/office/drawing/2014/main" id="{A06A9A09-8B0B-1501-A1F0-49CBD1163097}"/>
              </a:ext>
            </a:extLst>
          </p:cNvPr>
          <p:cNvSpPr/>
          <p:nvPr/>
        </p:nvSpPr>
        <p:spPr>
          <a:xfrm>
            <a:off x="308387" y="3110497"/>
            <a:ext cx="5486400" cy="2194560"/>
          </a:xfrm>
          <a:prstGeom prst="rect">
            <a:avLst/>
          </a:prstGeom>
          <a:noFill/>
          <a:ln/>
        </p:spPr>
        <p:txBody>
          <a:bodyPr wrap="square" lIns="762" tIns="762" rIns="762" bIns="762" rtlCol="0" anchor="ctr">
            <a:normAutofit/>
          </a:bodyPr>
          <a:lstStyle/>
          <a:p>
            <a:pPr>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308F9F9-CBC6-6817-BD5E-00589008568C}"/>
              </a:ext>
            </a:extLst>
          </p:cNvPr>
          <p:cNvSpPr txBox="1"/>
          <p:nvPr/>
        </p:nvSpPr>
        <p:spPr>
          <a:xfrm>
            <a:off x="653995" y="1986740"/>
            <a:ext cx="5881977"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Track HIV infections and deaths over time.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Measure treatment coverage across countries.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Understand mortality and survival outcomes.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Identify high-risk countries with poor ART access.</a:t>
            </a:r>
          </a:p>
        </p:txBody>
      </p:sp>
      <p:sp>
        <p:nvSpPr>
          <p:cNvPr id="12" name="Shape 6">
            <a:extLst>
              <a:ext uri="{FF2B5EF4-FFF2-40B4-BE49-F238E27FC236}">
                <a16:creationId xmlns:a16="http://schemas.microsoft.com/office/drawing/2014/main" id="{948D139D-6773-1147-987B-CCA50D495736}"/>
              </a:ext>
            </a:extLst>
          </p:cNvPr>
          <p:cNvSpPr/>
          <p:nvPr/>
        </p:nvSpPr>
        <p:spPr>
          <a:xfrm>
            <a:off x="7144485" y="620202"/>
            <a:ext cx="4343400" cy="3071107"/>
          </a:xfrm>
          <a:prstGeom prst="roundRect">
            <a:avLst>
              <a:gd name="adj" fmla="val 2025"/>
            </a:avLst>
          </a:prstGeom>
          <a:solidFill>
            <a:srgbClr val="E6F4FA"/>
          </a:solidFill>
          <a:ln w="15240">
            <a:solidFill>
              <a:srgbClr val="B7DFF0"/>
            </a:solidFill>
            <a:prstDash val="solid"/>
          </a:ln>
        </p:spPr>
        <p:txBody>
          <a:bodyPr/>
          <a:lstStyle/>
          <a:p>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Core challenge</a:t>
            </a:r>
          </a:p>
          <a:p>
            <a:endParaRPr lang="en-US" dirty="0">
              <a:solidFill>
                <a:srgbClr val="111827"/>
              </a:solidFill>
            </a:endParaRP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Although HIV-related data is available, decision-makers need a clean dashboard that connects infections, deaths, treatment coverage and survival outcomes in one place.</a:t>
            </a:r>
            <a:endParaRPr lang="en-US" sz="1400" dirty="0">
              <a:latin typeface="Times New Roman" panose="02020603050405020304" pitchFamily="18" charset="0"/>
              <a:cs typeface="Times New Roman" panose="02020603050405020304" pitchFamily="18" charset="0"/>
            </a:endParaRPr>
          </a:p>
        </p:txBody>
      </p:sp>
      <p:sp>
        <p:nvSpPr>
          <p:cNvPr id="13" name="Text 10">
            <a:extLst>
              <a:ext uri="{FF2B5EF4-FFF2-40B4-BE49-F238E27FC236}">
                <a16:creationId xmlns:a16="http://schemas.microsoft.com/office/drawing/2014/main" id="{54B0E5C7-09FA-FCB9-5F84-AC02E48480FD}"/>
              </a:ext>
            </a:extLst>
          </p:cNvPr>
          <p:cNvSpPr/>
          <p:nvPr/>
        </p:nvSpPr>
        <p:spPr>
          <a:xfrm>
            <a:off x="336182" y="4471623"/>
            <a:ext cx="11151703" cy="457200"/>
          </a:xfrm>
          <a:prstGeom prst="rect">
            <a:avLst/>
          </a:prstGeom>
          <a:noFill/>
          <a:ln/>
        </p:spPr>
        <p:txBody>
          <a:bodyPr wrap="square" lIns="0" tIns="0" rIns="0" bIns="0" rtlCol="0" anchor="ctr"/>
          <a:lstStyle/>
          <a:p>
            <a:pPr marL="0" indent="0">
              <a:buNone/>
            </a:pPr>
            <a:r>
              <a:rPr lang="en-US" sz="1400" dirty="0">
                <a:latin typeface="Times New Roman" panose="02020603050405020304" pitchFamily="18" charset="0"/>
                <a:cs typeface="Times New Roman" panose="02020603050405020304" pitchFamily="18" charset="0"/>
              </a:rPr>
              <a:t>This limits strategic planning and targeted intervention when data is fragmented or difficult to interpret.</a:t>
            </a:r>
          </a:p>
        </p:txBody>
      </p:sp>
    </p:spTree>
    <p:extLst>
      <p:ext uri="{BB962C8B-B14F-4D97-AF65-F5344CB8AC3E}">
        <p14:creationId xmlns:p14="http://schemas.microsoft.com/office/powerpoint/2010/main" val="341908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78FB0F62-7E08-9220-4176-F78E8D2FC0EE}"/>
              </a:ext>
            </a:extLst>
          </p:cNvPr>
          <p:cNvSpPr/>
          <p:nvPr/>
        </p:nvSpPr>
        <p:spPr>
          <a:xfrm>
            <a:off x="228600" y="347472"/>
            <a:ext cx="11064240" cy="411480"/>
          </a:xfrm>
          <a:prstGeom prst="rect">
            <a:avLst/>
          </a:prstGeom>
          <a:noFill/>
          <a:ln/>
        </p:spPr>
        <p:txBody>
          <a:bodyPr wrap="square" lIns="0" tIns="0" rIns="0" bIns="0" rtlCol="0" anchor="ctr"/>
          <a:lstStyle/>
          <a:p>
            <a:pPr marL="0" indent="0">
              <a:buNone/>
            </a:pPr>
            <a:r>
              <a:rPr lang="en-US" sz="3600" b="1" dirty="0">
                <a:latin typeface="Calibri" panose="020F0502020204030204" pitchFamily="34" charset="0"/>
                <a:ea typeface="Calibri" panose="020F0502020204030204" pitchFamily="34" charset="0"/>
                <a:cs typeface="Calibri" panose="020F0502020204030204" pitchFamily="34" charset="0"/>
              </a:rPr>
              <a:t>Data Description</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6" name="Shape 4">
            <a:extLst>
              <a:ext uri="{FF2B5EF4-FFF2-40B4-BE49-F238E27FC236}">
                <a16:creationId xmlns:a16="http://schemas.microsoft.com/office/drawing/2014/main" id="{74B2E3A9-44B6-6E71-4DC8-6B2BC5D229D5}"/>
              </a:ext>
            </a:extLst>
          </p:cNvPr>
          <p:cNvSpPr/>
          <p:nvPr/>
        </p:nvSpPr>
        <p:spPr>
          <a:xfrm>
            <a:off x="228600" y="1084668"/>
            <a:ext cx="2560320" cy="1143000"/>
          </a:xfrm>
          <a:prstGeom prst="roundRect">
            <a:avLst>
              <a:gd name="adj" fmla="val 6400"/>
            </a:avLst>
          </a:prstGeom>
          <a:solidFill>
            <a:srgbClr val="E6F4FA"/>
          </a:solidFill>
          <a:ln w="15240">
            <a:solidFill>
              <a:srgbClr val="B7DFF0"/>
            </a:solidFill>
            <a:prstDash val="solid"/>
          </a:ln>
        </p:spPr>
        <p:txBody>
          <a:bodyPr/>
          <a:lstStyle/>
          <a:p>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Country</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111827"/>
                </a:solidFill>
                <a:latin typeface="Times New Roman" panose="02020603050405020304" pitchFamily="18" charset="0"/>
                <a:cs typeface="Times New Roman" panose="02020603050405020304" pitchFamily="18" charset="0"/>
              </a:rPr>
              <a:t>Geographic location where HIV data was recorded.</a:t>
            </a:r>
            <a:endParaRPr lang="en-US" sz="1400" dirty="0">
              <a:latin typeface="Times New Roman" panose="02020603050405020304" pitchFamily="18" charset="0"/>
              <a:cs typeface="Times New Roman" panose="02020603050405020304" pitchFamily="18" charset="0"/>
            </a:endParaRPr>
          </a:p>
        </p:txBody>
      </p:sp>
      <p:sp>
        <p:nvSpPr>
          <p:cNvPr id="7" name="Shape 7">
            <a:extLst>
              <a:ext uri="{FF2B5EF4-FFF2-40B4-BE49-F238E27FC236}">
                <a16:creationId xmlns:a16="http://schemas.microsoft.com/office/drawing/2014/main" id="{99BE99A5-7345-DD7E-E5EE-6F423B8CCA0B}"/>
              </a:ext>
            </a:extLst>
          </p:cNvPr>
          <p:cNvSpPr/>
          <p:nvPr/>
        </p:nvSpPr>
        <p:spPr>
          <a:xfrm>
            <a:off x="3044847" y="1084668"/>
            <a:ext cx="2560320" cy="1143000"/>
          </a:xfrm>
          <a:prstGeom prst="roundRect">
            <a:avLst>
              <a:gd name="adj" fmla="val 6400"/>
            </a:avLst>
          </a:prstGeom>
          <a:solidFill>
            <a:srgbClr val="E6F4FA"/>
          </a:solidFill>
          <a:ln w="15240">
            <a:solidFill>
              <a:srgbClr val="B7DFF0"/>
            </a:solidFill>
            <a:prstDash val="solid"/>
          </a:ln>
        </p:spPr>
        <p:txBody>
          <a:bodyPr/>
          <a:lstStyle/>
          <a:p>
            <a:pPr>
              <a:lnSpc>
                <a:spcPct val="150000"/>
              </a:lnSpc>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Year</a:t>
            </a:r>
            <a:endParaRPr lang="en-US"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Annual time dimension used for trend and YoY analysis.</a:t>
            </a:r>
            <a:endParaRPr lang="en-US" sz="1400" dirty="0">
              <a:latin typeface="Times New Roman" panose="02020603050405020304" pitchFamily="18" charset="0"/>
              <a:cs typeface="Times New Roman" panose="02020603050405020304" pitchFamily="18" charset="0"/>
            </a:endParaRPr>
          </a:p>
        </p:txBody>
      </p:sp>
      <p:sp>
        <p:nvSpPr>
          <p:cNvPr id="8" name="Shape 10">
            <a:extLst>
              <a:ext uri="{FF2B5EF4-FFF2-40B4-BE49-F238E27FC236}">
                <a16:creationId xmlns:a16="http://schemas.microsoft.com/office/drawing/2014/main" id="{177E7915-69BC-7A84-AB38-21BFBB4F41B6}"/>
              </a:ext>
            </a:extLst>
          </p:cNvPr>
          <p:cNvSpPr/>
          <p:nvPr/>
        </p:nvSpPr>
        <p:spPr>
          <a:xfrm>
            <a:off x="5861094" y="1084668"/>
            <a:ext cx="2560320" cy="1143000"/>
          </a:xfrm>
          <a:prstGeom prst="roundRect">
            <a:avLst>
              <a:gd name="adj" fmla="val 6400"/>
            </a:avLst>
          </a:prstGeom>
          <a:solidFill>
            <a:srgbClr val="E6F4FA"/>
          </a:solidFill>
          <a:ln w="15240">
            <a:solidFill>
              <a:srgbClr val="B7DFF0"/>
            </a:solidFill>
            <a:prstDash val="solid"/>
          </a:ln>
        </p:spPr>
        <p:txBody>
          <a:bodyPr/>
          <a:lstStyle/>
          <a:p>
            <a:r>
              <a:rPr lang="en-US" sz="2000" b="1" dirty="0">
                <a:solidFill>
                  <a:srgbClr val="1F2937"/>
                </a:solidFill>
                <a:latin typeface="Calibri" panose="020F0502020204030204" pitchFamily="34" charset="0"/>
                <a:ea typeface="Calibri" panose="020F0502020204030204" pitchFamily="34" charset="0"/>
                <a:cs typeface="Calibri" panose="020F0502020204030204" pitchFamily="34" charset="0"/>
              </a:rPr>
              <a:t>Indicator</a:t>
            </a:r>
          </a:p>
          <a:p>
            <a:pPr>
              <a:lnSpc>
                <a:spcPct val="150000"/>
              </a:lnSpc>
            </a:pPr>
            <a:r>
              <a:rPr lang="en-US" sz="1400" dirty="0">
                <a:solidFill>
                  <a:srgbClr val="111827"/>
                </a:solidFill>
                <a:latin typeface="Times New Roman" panose="02020603050405020304" pitchFamily="18" charset="0"/>
                <a:ea typeface="Calibri" panose="020F0502020204030204" pitchFamily="34" charset="0"/>
                <a:cs typeface="Times New Roman" panose="02020603050405020304" pitchFamily="18" charset="0"/>
              </a:rPr>
              <a:t>Metric type: infections, deaths, PLHIV, or ART coverage.</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9" name="Shape 13">
            <a:extLst>
              <a:ext uri="{FF2B5EF4-FFF2-40B4-BE49-F238E27FC236}">
                <a16:creationId xmlns:a16="http://schemas.microsoft.com/office/drawing/2014/main" id="{388A420D-5C1B-5A5B-06BD-440C4DD7F13C}"/>
              </a:ext>
            </a:extLst>
          </p:cNvPr>
          <p:cNvSpPr/>
          <p:nvPr/>
        </p:nvSpPr>
        <p:spPr>
          <a:xfrm>
            <a:off x="8677341" y="1084668"/>
            <a:ext cx="2560320" cy="1143000"/>
          </a:xfrm>
          <a:prstGeom prst="roundRect">
            <a:avLst>
              <a:gd name="adj" fmla="val 6400"/>
            </a:avLst>
          </a:prstGeom>
          <a:solidFill>
            <a:srgbClr val="E6F4FA"/>
          </a:solidFill>
          <a:ln w="15240">
            <a:solidFill>
              <a:srgbClr val="B7DFF0"/>
            </a:solidFill>
            <a:prstDash val="solid"/>
          </a:ln>
        </p:spPr>
        <p:txBody>
          <a:bodyPr/>
          <a:lstStyle/>
          <a:p>
            <a:pPr>
              <a:lnSpc>
                <a:spcPct val="150000"/>
              </a:lnSpc>
            </a:pPr>
            <a:r>
              <a:rPr lang="en-US" sz="2000" b="1" dirty="0">
                <a:solidFill>
                  <a:srgbClr val="1F2937"/>
                </a:solidFill>
                <a:latin typeface="Calibri" panose="020F0502020204030204" pitchFamily="34" charset="0"/>
                <a:ea typeface="Calibri" panose="020F0502020204030204" pitchFamily="34" charset="0"/>
                <a:cs typeface="Calibri" panose="020F0502020204030204" pitchFamily="34" charset="0"/>
              </a:rPr>
              <a:t>Value</a:t>
            </a:r>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400" dirty="0">
                <a:solidFill>
                  <a:srgbClr val="111827"/>
                </a:solidFill>
                <a:latin typeface="Times New Roman" panose="02020603050405020304" pitchFamily="18" charset="0"/>
                <a:ea typeface="Calibri" panose="020F0502020204030204" pitchFamily="34" charset="0"/>
                <a:cs typeface="Times New Roman" panose="02020603050405020304" pitchFamily="18" charset="0"/>
              </a:rPr>
              <a:t>Numeric measure: count values or treatment percentage.</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A7E129A2-6DFD-63E7-667A-776F5109A295}"/>
              </a:ext>
            </a:extLst>
          </p:cNvPr>
          <p:cNvSpPr txBox="1"/>
          <p:nvPr/>
        </p:nvSpPr>
        <p:spPr>
          <a:xfrm>
            <a:off x="228600" y="2399634"/>
            <a:ext cx="6105196" cy="400110"/>
          </a:xfrm>
          <a:prstGeom prst="rect">
            <a:avLst/>
          </a:prstGeom>
          <a:noFill/>
        </p:spPr>
        <p:txBody>
          <a:bodyPr wrap="square">
            <a:sp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Indicators analyzed</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2" name="Shape 17">
            <a:extLst>
              <a:ext uri="{FF2B5EF4-FFF2-40B4-BE49-F238E27FC236}">
                <a16:creationId xmlns:a16="http://schemas.microsoft.com/office/drawing/2014/main" id="{6FF6C5B3-D9AC-CF5D-3899-0AC3B5B6A295}"/>
              </a:ext>
            </a:extLst>
          </p:cNvPr>
          <p:cNvSpPr/>
          <p:nvPr/>
        </p:nvSpPr>
        <p:spPr>
          <a:xfrm>
            <a:off x="451900" y="3055960"/>
            <a:ext cx="146304" cy="147600"/>
          </a:xfrm>
          <a:prstGeom prst="rect">
            <a:avLst/>
          </a:prstGeom>
          <a:solidFill>
            <a:srgbClr val="009CDE"/>
          </a:solidFill>
          <a:ln w="12700">
            <a:solidFill>
              <a:srgbClr val="009CDE"/>
            </a:solidFill>
            <a:prstDash val="solid"/>
          </a:ln>
        </p:spPr>
        <p:txBody>
          <a:bodyPr/>
          <a:lstStyle/>
          <a:p>
            <a:endParaRPr lang="en-GB"/>
          </a:p>
        </p:txBody>
      </p:sp>
      <p:sp>
        <p:nvSpPr>
          <p:cNvPr id="14" name="TextBox 13">
            <a:extLst>
              <a:ext uri="{FF2B5EF4-FFF2-40B4-BE49-F238E27FC236}">
                <a16:creationId xmlns:a16="http://schemas.microsoft.com/office/drawing/2014/main" id="{4BDA70CF-CE68-4D2A-D2B6-58E3AB248207}"/>
              </a:ext>
            </a:extLst>
          </p:cNvPr>
          <p:cNvSpPr txBox="1"/>
          <p:nvPr/>
        </p:nvSpPr>
        <p:spPr>
          <a:xfrm>
            <a:off x="799928" y="3015451"/>
            <a:ext cx="1985681" cy="338554"/>
          </a:xfrm>
          <a:prstGeom prst="rect">
            <a:avLst/>
          </a:prstGeom>
          <a:noFill/>
        </p:spPr>
        <p:txBody>
          <a:bodyPr wrap="square">
            <a:spAutoFit/>
          </a:bodyPr>
          <a:lstStyle/>
          <a:p>
            <a:pPr marL="0" indent="0">
              <a:buNone/>
            </a:pPr>
            <a:r>
              <a:rPr lang="en-US" sz="1600" dirty="0">
                <a:latin typeface="Times New Roman" panose="02020603050405020304" pitchFamily="18" charset="0"/>
                <a:cs typeface="Times New Roman" panose="02020603050405020304" pitchFamily="18" charset="0"/>
              </a:rPr>
              <a:t>New Infections</a:t>
            </a:r>
          </a:p>
        </p:txBody>
      </p:sp>
      <p:sp>
        <p:nvSpPr>
          <p:cNvPr id="16" name="TextBox 15">
            <a:extLst>
              <a:ext uri="{FF2B5EF4-FFF2-40B4-BE49-F238E27FC236}">
                <a16:creationId xmlns:a16="http://schemas.microsoft.com/office/drawing/2014/main" id="{3CBBD01E-3C7F-9F37-1651-F66CC0AA002D}"/>
              </a:ext>
            </a:extLst>
          </p:cNvPr>
          <p:cNvSpPr txBox="1"/>
          <p:nvPr/>
        </p:nvSpPr>
        <p:spPr>
          <a:xfrm>
            <a:off x="799928" y="3309151"/>
            <a:ext cx="1622055" cy="338554"/>
          </a:xfrm>
          <a:prstGeom prst="rect">
            <a:avLst/>
          </a:prstGeom>
          <a:noFill/>
        </p:spPr>
        <p:txBody>
          <a:bodyPr wrap="square">
            <a:spAutoFit/>
          </a:bodyPr>
          <a:lstStyle/>
          <a:p>
            <a:pPr marL="0" indent="0">
              <a:buNone/>
            </a:pPr>
            <a:r>
              <a:rPr lang="en-US" sz="1600" dirty="0">
                <a:latin typeface="Times New Roman" panose="02020603050405020304" pitchFamily="18" charset="0"/>
                <a:cs typeface="Times New Roman" panose="02020603050405020304" pitchFamily="18" charset="0"/>
              </a:rPr>
              <a:t>HIV Deaths</a:t>
            </a:r>
          </a:p>
        </p:txBody>
      </p:sp>
      <p:sp>
        <p:nvSpPr>
          <p:cNvPr id="17" name="Shape 20">
            <a:extLst>
              <a:ext uri="{FF2B5EF4-FFF2-40B4-BE49-F238E27FC236}">
                <a16:creationId xmlns:a16="http://schemas.microsoft.com/office/drawing/2014/main" id="{F6D104E4-D94D-8BC2-01B2-5422990CA45D}"/>
              </a:ext>
            </a:extLst>
          </p:cNvPr>
          <p:cNvSpPr/>
          <p:nvPr/>
        </p:nvSpPr>
        <p:spPr>
          <a:xfrm>
            <a:off x="436840" y="3409245"/>
            <a:ext cx="146304" cy="147600"/>
          </a:xfrm>
          <a:prstGeom prst="rect">
            <a:avLst/>
          </a:prstGeom>
          <a:solidFill>
            <a:srgbClr val="C62828"/>
          </a:solidFill>
          <a:ln w="12700">
            <a:solidFill>
              <a:srgbClr val="C62828"/>
            </a:solidFill>
            <a:prstDash val="solid"/>
          </a:ln>
        </p:spPr>
        <p:txBody>
          <a:bodyPr/>
          <a:lstStyle/>
          <a:p>
            <a:endParaRPr lang="en-GB"/>
          </a:p>
        </p:txBody>
      </p:sp>
      <p:sp>
        <p:nvSpPr>
          <p:cNvPr id="18" name="Text 24">
            <a:extLst>
              <a:ext uri="{FF2B5EF4-FFF2-40B4-BE49-F238E27FC236}">
                <a16:creationId xmlns:a16="http://schemas.microsoft.com/office/drawing/2014/main" id="{5FBA92D6-E8C7-EC6E-65DD-ABC066EB7250}"/>
              </a:ext>
            </a:extLst>
          </p:cNvPr>
          <p:cNvSpPr/>
          <p:nvPr/>
        </p:nvSpPr>
        <p:spPr>
          <a:xfrm>
            <a:off x="799928" y="3666557"/>
            <a:ext cx="2071097" cy="257282"/>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cs typeface="Times New Roman" panose="02020603050405020304" pitchFamily="18" charset="0"/>
              </a:rPr>
              <a:t>People Living with HIV</a:t>
            </a:r>
          </a:p>
        </p:txBody>
      </p:sp>
      <p:sp>
        <p:nvSpPr>
          <p:cNvPr id="19" name="Shape 20">
            <a:extLst>
              <a:ext uri="{FF2B5EF4-FFF2-40B4-BE49-F238E27FC236}">
                <a16:creationId xmlns:a16="http://schemas.microsoft.com/office/drawing/2014/main" id="{CD2BED02-7BA6-FB4A-241E-85BB3E894B5A}"/>
              </a:ext>
            </a:extLst>
          </p:cNvPr>
          <p:cNvSpPr/>
          <p:nvPr/>
        </p:nvSpPr>
        <p:spPr>
          <a:xfrm>
            <a:off x="436840" y="3722046"/>
            <a:ext cx="146304" cy="146304"/>
          </a:xfrm>
          <a:prstGeom prst="rect">
            <a:avLst/>
          </a:prstGeom>
          <a:solidFill>
            <a:schemeClr val="bg1">
              <a:lumMod val="75000"/>
              <a:lumOff val="25000"/>
            </a:schemeClr>
          </a:solidFill>
          <a:ln w="12700">
            <a:noFill/>
            <a:prstDash val="solid"/>
          </a:ln>
        </p:spPr>
        <p:txBody>
          <a:bodyPr/>
          <a:lstStyle/>
          <a:p>
            <a:endParaRPr lang="en-GB" dirty="0"/>
          </a:p>
        </p:txBody>
      </p:sp>
      <p:sp>
        <p:nvSpPr>
          <p:cNvPr id="20" name="Text 27">
            <a:extLst>
              <a:ext uri="{FF2B5EF4-FFF2-40B4-BE49-F238E27FC236}">
                <a16:creationId xmlns:a16="http://schemas.microsoft.com/office/drawing/2014/main" id="{C4F0073A-C4E5-0976-9AF6-CF026A3B6262}"/>
              </a:ext>
            </a:extLst>
          </p:cNvPr>
          <p:cNvSpPr/>
          <p:nvPr/>
        </p:nvSpPr>
        <p:spPr>
          <a:xfrm>
            <a:off x="755000" y="4144438"/>
            <a:ext cx="1711909" cy="320421"/>
          </a:xfrm>
          <a:prstGeom prst="rect">
            <a:avLst/>
          </a:prstGeom>
          <a:noFill/>
          <a:ln/>
        </p:spPr>
        <p:txBody>
          <a:bodyPr wrap="square" lIns="0" tIns="0" rIns="0" bIns="0" rtlCol="0" anchor="ctr"/>
          <a:lstStyle/>
          <a:p>
            <a:pPr marL="0" indent="0">
              <a:buNone/>
            </a:pPr>
            <a:r>
              <a:rPr lang="en-US" sz="1600" dirty="0">
                <a:latin typeface="Times New Roman" panose="02020603050405020304" pitchFamily="18" charset="0"/>
                <a:cs typeface="Times New Roman" panose="02020603050405020304" pitchFamily="18" charset="0"/>
              </a:rPr>
              <a:t>ART Coverage (%)</a:t>
            </a:r>
          </a:p>
        </p:txBody>
      </p:sp>
      <p:sp>
        <p:nvSpPr>
          <p:cNvPr id="21" name="Shape 20">
            <a:extLst>
              <a:ext uri="{FF2B5EF4-FFF2-40B4-BE49-F238E27FC236}">
                <a16:creationId xmlns:a16="http://schemas.microsoft.com/office/drawing/2014/main" id="{AEAB7FC1-29C6-2FDF-16A2-2823A51F64F6}"/>
              </a:ext>
            </a:extLst>
          </p:cNvPr>
          <p:cNvSpPr/>
          <p:nvPr/>
        </p:nvSpPr>
        <p:spPr>
          <a:xfrm>
            <a:off x="469386" y="4227110"/>
            <a:ext cx="146304" cy="147600"/>
          </a:xfrm>
          <a:prstGeom prst="rect">
            <a:avLst/>
          </a:prstGeom>
          <a:solidFill>
            <a:schemeClr val="tx2">
              <a:lumMod val="25000"/>
            </a:schemeClr>
          </a:solidFill>
          <a:ln w="12700">
            <a:noFill/>
            <a:prstDash val="solid"/>
          </a:ln>
        </p:spPr>
        <p:txBody>
          <a:bodyPr/>
          <a:lstStyle/>
          <a:p>
            <a:endParaRPr lang="en-GB"/>
          </a:p>
        </p:txBody>
      </p:sp>
      <p:sp>
        <p:nvSpPr>
          <p:cNvPr id="23" name="TextBox 22">
            <a:extLst>
              <a:ext uri="{FF2B5EF4-FFF2-40B4-BE49-F238E27FC236}">
                <a16:creationId xmlns:a16="http://schemas.microsoft.com/office/drawing/2014/main" id="{F8E59A81-8C0E-891C-9381-F024F1ACABE5}"/>
              </a:ext>
            </a:extLst>
          </p:cNvPr>
          <p:cNvSpPr txBox="1"/>
          <p:nvPr/>
        </p:nvSpPr>
        <p:spPr>
          <a:xfrm>
            <a:off x="3050670" y="2922211"/>
            <a:ext cx="3515118" cy="372688"/>
          </a:xfrm>
          <a:prstGeom prst="rect">
            <a:avLst/>
          </a:prstGeom>
          <a:noFill/>
        </p:spPr>
        <p:txBody>
          <a:bodyPr wrap="square">
            <a:spAutoFit/>
          </a:bodyPr>
          <a:lstStyle/>
          <a:p>
            <a:pPr marL="0" indent="0">
              <a:buNone/>
            </a:pPr>
            <a:r>
              <a:rPr lang="en-US" dirty="0">
                <a:latin typeface="Times New Roman" panose="02020603050405020304" pitchFamily="18" charset="0"/>
                <a:cs typeface="Times New Roman" panose="02020603050405020304" pitchFamily="18" charset="0"/>
              </a:rPr>
              <a:t>Measures disease spread / incidence</a:t>
            </a:r>
          </a:p>
        </p:txBody>
      </p:sp>
      <p:sp>
        <p:nvSpPr>
          <p:cNvPr id="24" name="Shape 29">
            <a:extLst>
              <a:ext uri="{FF2B5EF4-FFF2-40B4-BE49-F238E27FC236}">
                <a16:creationId xmlns:a16="http://schemas.microsoft.com/office/drawing/2014/main" id="{83525C51-22F0-4555-6226-9A34167965C3}"/>
              </a:ext>
            </a:extLst>
          </p:cNvPr>
          <p:cNvSpPr/>
          <p:nvPr/>
        </p:nvSpPr>
        <p:spPr>
          <a:xfrm>
            <a:off x="6773165" y="2380917"/>
            <a:ext cx="4526280" cy="2331720"/>
          </a:xfrm>
          <a:prstGeom prst="roundRect">
            <a:avLst>
              <a:gd name="adj" fmla="val 3137"/>
            </a:avLst>
          </a:prstGeom>
          <a:solidFill>
            <a:srgbClr val="E6F4FA"/>
          </a:solidFill>
          <a:ln w="15240">
            <a:solidFill>
              <a:srgbClr val="B7DFF0"/>
            </a:solidFill>
            <a:prstDash val="solid"/>
          </a:ln>
        </p:spPr>
        <p:txBody>
          <a:bodyPr/>
          <a:lstStyle/>
          <a:p>
            <a:endParaRPr lang="en-GB"/>
          </a:p>
        </p:txBody>
      </p:sp>
      <p:sp>
        <p:nvSpPr>
          <p:cNvPr id="26" name="TextBox 25">
            <a:extLst>
              <a:ext uri="{FF2B5EF4-FFF2-40B4-BE49-F238E27FC236}">
                <a16:creationId xmlns:a16="http://schemas.microsoft.com/office/drawing/2014/main" id="{7445E23D-D6DD-5948-AAF5-91B68BEF5F3E}"/>
              </a:ext>
            </a:extLst>
          </p:cNvPr>
          <p:cNvSpPr txBox="1"/>
          <p:nvPr/>
        </p:nvSpPr>
        <p:spPr>
          <a:xfrm>
            <a:off x="3039988" y="3244334"/>
            <a:ext cx="3542320" cy="369332"/>
          </a:xfrm>
          <a:prstGeom prst="rect">
            <a:avLst/>
          </a:prstGeom>
          <a:noFill/>
        </p:spPr>
        <p:txBody>
          <a:bodyPr wrap="square">
            <a:spAutoFit/>
          </a:bodyPr>
          <a:lstStyle/>
          <a:p>
            <a:pPr marL="0" indent="0">
              <a:buNone/>
            </a:pPr>
            <a:r>
              <a:rPr lang="en-US" sz="1800" dirty="0">
                <a:latin typeface="Times New Roman" panose="02020603050405020304" pitchFamily="18" charset="0"/>
                <a:cs typeface="Times New Roman" panose="02020603050405020304" pitchFamily="18" charset="0"/>
              </a:rPr>
              <a:t>Measures mortality impact</a:t>
            </a:r>
          </a:p>
        </p:txBody>
      </p:sp>
      <p:sp>
        <p:nvSpPr>
          <p:cNvPr id="28" name="TextBox 27">
            <a:extLst>
              <a:ext uri="{FF2B5EF4-FFF2-40B4-BE49-F238E27FC236}">
                <a16:creationId xmlns:a16="http://schemas.microsoft.com/office/drawing/2014/main" id="{49044AEF-F432-9D9B-410B-908C0ECA90D3}"/>
              </a:ext>
            </a:extLst>
          </p:cNvPr>
          <p:cNvSpPr txBox="1"/>
          <p:nvPr/>
        </p:nvSpPr>
        <p:spPr>
          <a:xfrm>
            <a:off x="3050670" y="3556845"/>
            <a:ext cx="3880949" cy="369332"/>
          </a:xfrm>
          <a:prstGeom prst="rect">
            <a:avLst/>
          </a:prstGeom>
          <a:noFill/>
        </p:spPr>
        <p:txBody>
          <a:bodyPr wrap="square">
            <a:spAutoFit/>
          </a:bodyPr>
          <a:lstStyle/>
          <a:p>
            <a:pPr marL="0" indent="0">
              <a:buNone/>
            </a:pPr>
            <a:r>
              <a:rPr lang="en-US" sz="1800" dirty="0">
                <a:latin typeface="Times New Roman" panose="02020603050405020304" pitchFamily="18" charset="0"/>
                <a:cs typeface="Times New Roman" panose="02020603050405020304" pitchFamily="18" charset="0"/>
              </a:rPr>
              <a:t>Measures disease burden / prevalence</a:t>
            </a:r>
          </a:p>
        </p:txBody>
      </p:sp>
      <p:sp>
        <p:nvSpPr>
          <p:cNvPr id="30" name="TextBox 29">
            <a:extLst>
              <a:ext uri="{FF2B5EF4-FFF2-40B4-BE49-F238E27FC236}">
                <a16:creationId xmlns:a16="http://schemas.microsoft.com/office/drawing/2014/main" id="{7615984A-DCA0-F77A-5F96-25CCF802927B}"/>
              </a:ext>
            </a:extLst>
          </p:cNvPr>
          <p:cNvSpPr txBox="1"/>
          <p:nvPr/>
        </p:nvSpPr>
        <p:spPr>
          <a:xfrm>
            <a:off x="3039988" y="3977745"/>
            <a:ext cx="3880949" cy="646331"/>
          </a:xfrm>
          <a:prstGeom prst="rect">
            <a:avLst/>
          </a:prstGeom>
          <a:noFill/>
        </p:spPr>
        <p:txBody>
          <a:bodyPr wrap="square">
            <a:spAutoFit/>
          </a:bodyPr>
          <a:lstStyle/>
          <a:p>
            <a:pPr marL="0" indent="0">
              <a:buNone/>
            </a:pPr>
            <a:r>
              <a:rPr lang="en-US" sz="1800" dirty="0">
                <a:latin typeface="Times New Roman" panose="02020603050405020304" pitchFamily="18" charset="0"/>
                <a:cs typeface="Times New Roman" panose="02020603050405020304" pitchFamily="18" charset="0"/>
              </a:rPr>
              <a:t>Measures treatment access and healthcare effectiveness</a:t>
            </a:r>
          </a:p>
        </p:txBody>
      </p:sp>
      <p:sp>
        <p:nvSpPr>
          <p:cNvPr id="31" name="Text 31">
            <a:extLst>
              <a:ext uri="{FF2B5EF4-FFF2-40B4-BE49-F238E27FC236}">
                <a16:creationId xmlns:a16="http://schemas.microsoft.com/office/drawing/2014/main" id="{C9469906-57F6-ABD7-EDEE-0D294304F3F1}"/>
              </a:ext>
            </a:extLst>
          </p:cNvPr>
          <p:cNvSpPr/>
          <p:nvPr/>
        </p:nvSpPr>
        <p:spPr>
          <a:xfrm>
            <a:off x="6931620" y="2799743"/>
            <a:ext cx="3154741" cy="1751709"/>
          </a:xfrm>
          <a:prstGeom prst="rect">
            <a:avLst/>
          </a:prstGeom>
          <a:noFill/>
          <a:ln/>
        </p:spPr>
        <p:txBody>
          <a:bodyPr wrap="square" lIns="254" tIns="254" rIns="254" bIns="254" rtlCol="0" anchor="ctr">
            <a:normAutofit fontScale="92500"/>
          </a:bodyPr>
          <a:lstStyle/>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Multi-country </a:t>
            </a:r>
          </a:p>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Time-series </a:t>
            </a:r>
          </a:p>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Aggregated annually </a:t>
            </a:r>
          </a:p>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Supports trend analysis</a:t>
            </a:r>
          </a:p>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 country ranking and </a:t>
            </a:r>
          </a:p>
          <a:p>
            <a:pPr marL="285750" indent="-285750">
              <a:lnSpc>
                <a:spcPct val="150000"/>
              </a:lnSpc>
              <a:buFont typeface="Arial" panose="020B0604020202020204" pitchFamily="34" charset="0"/>
              <a:buChar char="•"/>
            </a:pPr>
            <a:r>
              <a:rPr lang="en-US" sz="1400" dirty="0">
                <a:solidFill>
                  <a:srgbClr val="111827"/>
                </a:solidFill>
                <a:latin typeface="Times New Roman" panose="02020603050405020304" pitchFamily="18" charset="0"/>
                <a:cs typeface="Times New Roman" panose="02020603050405020304" pitchFamily="18" charset="0"/>
              </a:rPr>
              <a:t>treatment Coverage comparison.</a:t>
            </a:r>
            <a:endParaRPr lang="en-US" sz="140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90515B47-9D6A-2AF6-B112-F5038641F63C}"/>
              </a:ext>
            </a:extLst>
          </p:cNvPr>
          <p:cNvSpPr txBox="1"/>
          <p:nvPr/>
        </p:nvSpPr>
        <p:spPr>
          <a:xfrm>
            <a:off x="7057171" y="2390273"/>
            <a:ext cx="3029190" cy="369332"/>
          </a:xfrm>
          <a:prstGeom prst="rect">
            <a:avLst/>
          </a:prstGeom>
          <a:noFill/>
        </p:spPr>
        <p:txBody>
          <a:bodyPr wrap="square">
            <a:spAutoFit/>
          </a:bodyPr>
          <a:lstStyle/>
          <a:p>
            <a:pPr marL="0" indent="0">
              <a:buNone/>
            </a:pPr>
            <a:r>
              <a:rPr lang="en-US" sz="1800" b="1" dirty="0">
                <a:solidFill>
                  <a:srgbClr val="1F2937"/>
                </a:solidFill>
                <a:latin typeface="Calibri" panose="020F0502020204030204" pitchFamily="34" charset="0"/>
                <a:ea typeface="Calibri" panose="020F0502020204030204" pitchFamily="34" charset="0"/>
                <a:cs typeface="Calibri" panose="020F0502020204030204" pitchFamily="34" charset="0"/>
              </a:rPr>
              <a:t>Data characteristics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8285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pic>
        <p:nvPicPr>
          <p:cNvPr id="12" name="Picture 11" descr="The diagram displays a data structure with various indicators, including Date, Year, FactHIV, FactID, LocationID, and LocationCode, all connected to a central Dimension field.&#10;&#10;AI-generated content may be incorrect.">
            <a:extLst>
              <a:ext uri="{FF2B5EF4-FFF2-40B4-BE49-F238E27FC236}">
                <a16:creationId xmlns:a16="http://schemas.microsoft.com/office/drawing/2014/main" id="{BD09B8D9-7047-7B33-E372-2939754B4A40}"/>
              </a:ext>
            </a:extLst>
          </p:cNvPr>
          <p:cNvPicPr>
            <a:picLocks noChangeAspect="1"/>
          </p:cNvPicPr>
          <p:nvPr/>
        </p:nvPicPr>
        <p:blipFill>
          <a:blip r:embed="rId2"/>
          <a:stretch>
            <a:fillRect/>
          </a:stretch>
        </p:blipFill>
        <p:spPr>
          <a:xfrm>
            <a:off x="149165" y="748552"/>
            <a:ext cx="5815718" cy="4400776"/>
          </a:xfrm>
          <a:prstGeom prst="rect">
            <a:avLst/>
          </a:prstGeom>
        </p:spPr>
      </p:pic>
      <p:sp>
        <p:nvSpPr>
          <p:cNvPr id="24" name="Shape 4">
            <a:extLst>
              <a:ext uri="{FF2B5EF4-FFF2-40B4-BE49-F238E27FC236}">
                <a16:creationId xmlns:a16="http://schemas.microsoft.com/office/drawing/2014/main" id="{183027DC-6F80-7D15-723A-995B72F37B84}"/>
              </a:ext>
            </a:extLst>
          </p:cNvPr>
          <p:cNvSpPr/>
          <p:nvPr/>
        </p:nvSpPr>
        <p:spPr>
          <a:xfrm>
            <a:off x="7947519" y="936172"/>
            <a:ext cx="3886200" cy="961200"/>
          </a:xfrm>
          <a:prstGeom prst="roundRect">
            <a:avLst>
              <a:gd name="adj" fmla="val 5714"/>
            </a:avLst>
          </a:prstGeom>
          <a:solidFill>
            <a:srgbClr val="E6F4FA"/>
          </a:solidFill>
          <a:ln w="15240">
            <a:solidFill>
              <a:srgbClr val="B7DFF0"/>
            </a:solidFill>
            <a:prstDash val="solid"/>
          </a:ln>
        </p:spPr>
        <p:txBody>
          <a:bodyPr/>
          <a:lstStyle/>
          <a:p>
            <a:r>
              <a:rPr lang="en-US" sz="2000" b="1" dirty="0" err="1">
                <a:solidFill>
                  <a:srgbClr val="1F2937"/>
                </a:solidFill>
                <a:latin typeface="Calibri" panose="020F0502020204030204" pitchFamily="34" charset="0"/>
                <a:ea typeface="Calibri" panose="020F0502020204030204" pitchFamily="34" charset="0"/>
                <a:cs typeface="Calibri" panose="020F0502020204030204" pitchFamily="34" charset="0"/>
              </a:rPr>
              <a:t>FactHIV</a:t>
            </a: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1400" dirty="0">
              <a:solidFill>
                <a:srgbClr val="111827"/>
              </a:solidFill>
              <a:latin typeface="Times New Roman" panose="02020603050405020304" pitchFamily="18" charset="0"/>
              <a:cs typeface="Times New Roman" panose="02020603050405020304" pitchFamily="18" charset="0"/>
            </a:endParaRPr>
          </a:p>
          <a:p>
            <a:r>
              <a:rPr lang="en-US" sz="1400" dirty="0">
                <a:solidFill>
                  <a:srgbClr val="111827"/>
                </a:solidFill>
                <a:latin typeface="Times New Roman" panose="02020603050405020304" pitchFamily="18" charset="0"/>
                <a:cs typeface="Times New Roman" panose="02020603050405020304" pitchFamily="18" charset="0"/>
              </a:rPr>
              <a:t>Central fact table storing numeric HIV values.</a:t>
            </a:r>
            <a:endParaRPr lang="en-US" sz="1400" dirty="0">
              <a:latin typeface="Times New Roman" panose="02020603050405020304" pitchFamily="18" charset="0"/>
              <a:cs typeface="Times New Roman" panose="02020603050405020304" pitchFamily="18" charset="0"/>
            </a:endParaRPr>
          </a:p>
        </p:txBody>
      </p:sp>
      <p:sp>
        <p:nvSpPr>
          <p:cNvPr id="25" name="Shape 7">
            <a:extLst>
              <a:ext uri="{FF2B5EF4-FFF2-40B4-BE49-F238E27FC236}">
                <a16:creationId xmlns:a16="http://schemas.microsoft.com/office/drawing/2014/main" id="{56130F50-7C72-DB02-3A2B-8104F01F6BEA}"/>
              </a:ext>
            </a:extLst>
          </p:cNvPr>
          <p:cNvSpPr/>
          <p:nvPr/>
        </p:nvSpPr>
        <p:spPr>
          <a:xfrm>
            <a:off x="7947519" y="2094623"/>
            <a:ext cx="3886200" cy="961200"/>
          </a:xfrm>
          <a:prstGeom prst="roundRect">
            <a:avLst>
              <a:gd name="adj" fmla="val 7619"/>
            </a:avLst>
          </a:prstGeom>
          <a:solidFill>
            <a:srgbClr val="E6F4FA"/>
          </a:solidFill>
          <a:ln w="15240">
            <a:solidFill>
              <a:srgbClr val="B7DFF0"/>
            </a:solidFill>
            <a:prstDash val="solid"/>
          </a:ln>
        </p:spPr>
        <p:txBody>
          <a:bodyPr/>
          <a:lstStyle/>
          <a:p>
            <a:r>
              <a:rPr lang="en-US" b="1" dirty="0" err="1">
                <a:solidFill>
                  <a:srgbClr val="111827"/>
                </a:solidFill>
                <a:latin typeface="Calibri" panose="020F0502020204030204" pitchFamily="34" charset="0"/>
                <a:ea typeface="Calibri" panose="020F0502020204030204" pitchFamily="34" charset="0"/>
                <a:cs typeface="Calibri" panose="020F0502020204030204" pitchFamily="34" charset="0"/>
              </a:rPr>
              <a:t>DimDate</a:t>
            </a:r>
            <a:endParaRPr lang="en-US" b="1" dirty="0">
              <a:solidFill>
                <a:srgbClr val="111827"/>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400" dirty="0">
                <a:solidFill>
                  <a:srgbClr val="111827"/>
                </a:solidFill>
                <a:latin typeface="Times New Roman" panose="02020603050405020304" pitchFamily="18" charset="0"/>
                <a:cs typeface="Times New Roman" panose="02020603050405020304" pitchFamily="18" charset="0"/>
              </a:rPr>
              <a:t>Supports yearly trend and YoY calculations.</a:t>
            </a:r>
            <a:endParaRPr lang="en-US" sz="1400" dirty="0">
              <a:latin typeface="Times New Roman" panose="02020603050405020304" pitchFamily="18" charset="0"/>
              <a:cs typeface="Times New Roman" panose="02020603050405020304" pitchFamily="18" charset="0"/>
            </a:endParaRPr>
          </a:p>
        </p:txBody>
      </p:sp>
      <p:sp>
        <p:nvSpPr>
          <p:cNvPr id="26" name="Shape 10">
            <a:extLst>
              <a:ext uri="{FF2B5EF4-FFF2-40B4-BE49-F238E27FC236}">
                <a16:creationId xmlns:a16="http://schemas.microsoft.com/office/drawing/2014/main" id="{AE90D1AD-74B5-41E5-166A-2ACC9007040C}"/>
              </a:ext>
            </a:extLst>
          </p:cNvPr>
          <p:cNvSpPr/>
          <p:nvPr/>
        </p:nvSpPr>
        <p:spPr>
          <a:xfrm>
            <a:off x="7947519" y="3253074"/>
            <a:ext cx="3886200" cy="961200"/>
          </a:xfrm>
          <a:prstGeom prst="roundRect">
            <a:avLst>
              <a:gd name="adj" fmla="val 7619"/>
            </a:avLst>
          </a:prstGeom>
          <a:solidFill>
            <a:srgbClr val="E6F4FA"/>
          </a:solidFill>
          <a:ln w="15240">
            <a:solidFill>
              <a:srgbClr val="B7DFF0"/>
            </a:solidFill>
            <a:prstDash val="solid"/>
          </a:ln>
        </p:spPr>
        <p:txBody>
          <a:bodyPr/>
          <a:lstStyle/>
          <a:p>
            <a:pPr>
              <a:lnSpc>
                <a:spcPct val="150000"/>
              </a:lnSpc>
            </a:pPr>
            <a:r>
              <a:rPr lang="en-US" b="1" dirty="0" err="1">
                <a:solidFill>
                  <a:srgbClr val="111827"/>
                </a:solidFill>
                <a:latin typeface="Calibri" panose="020F0502020204030204" pitchFamily="34" charset="0"/>
                <a:ea typeface="Calibri" panose="020F0502020204030204" pitchFamily="34" charset="0"/>
                <a:cs typeface="Calibri" panose="020F0502020204030204" pitchFamily="34" charset="0"/>
              </a:rPr>
              <a:t>DimLocation</a:t>
            </a:r>
            <a:endParaRPr lang="en-US" b="1" dirty="0">
              <a:solidFill>
                <a:srgbClr val="111827"/>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400" dirty="0">
                <a:solidFill>
                  <a:srgbClr val="111827"/>
                </a:solidFill>
                <a:latin typeface="Tahoma" panose="020B0604030504040204" pitchFamily="34" charset="0"/>
                <a:ea typeface="Tahoma" panose="020B0604030504040204" pitchFamily="34" charset="0"/>
                <a:cs typeface="Tahoma" panose="020B0604030504040204" pitchFamily="34" charset="0"/>
              </a:rPr>
              <a:t>Supports country and continent filtering.</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27" name="Shape 13">
            <a:extLst>
              <a:ext uri="{FF2B5EF4-FFF2-40B4-BE49-F238E27FC236}">
                <a16:creationId xmlns:a16="http://schemas.microsoft.com/office/drawing/2014/main" id="{101D5C2A-EE2F-8FC3-C685-C645780AEB08}"/>
              </a:ext>
            </a:extLst>
          </p:cNvPr>
          <p:cNvSpPr/>
          <p:nvPr/>
        </p:nvSpPr>
        <p:spPr>
          <a:xfrm>
            <a:off x="7947519" y="4411524"/>
            <a:ext cx="3886200" cy="961200"/>
          </a:xfrm>
          <a:prstGeom prst="roundRect">
            <a:avLst>
              <a:gd name="adj" fmla="val 7619"/>
            </a:avLst>
          </a:prstGeom>
          <a:solidFill>
            <a:srgbClr val="E6F4FA"/>
          </a:solidFill>
          <a:ln w="15240">
            <a:solidFill>
              <a:srgbClr val="B7DFF0"/>
            </a:solidFill>
            <a:prstDash val="solid"/>
          </a:ln>
        </p:spPr>
        <p:txBody>
          <a:bodyPr/>
          <a:lstStyle/>
          <a:p>
            <a:pPr>
              <a:lnSpc>
                <a:spcPct val="150000"/>
              </a:lnSpc>
            </a:pPr>
            <a:r>
              <a:rPr lang="en-US" b="1" dirty="0" err="1">
                <a:solidFill>
                  <a:srgbClr val="111827"/>
                </a:solidFill>
                <a:latin typeface="Calibri" panose="020F0502020204030204" pitchFamily="34" charset="0"/>
                <a:ea typeface="Calibri" panose="020F0502020204030204" pitchFamily="34" charset="0"/>
                <a:cs typeface="Calibri" panose="020F0502020204030204" pitchFamily="34" charset="0"/>
              </a:rPr>
              <a:t>DimIndicator</a:t>
            </a:r>
            <a:endParaRPr lang="en-US" b="1" dirty="0">
              <a:solidFill>
                <a:srgbClr val="111827"/>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111827"/>
                </a:solidFill>
                <a:latin typeface="Times New Roman" panose="02020603050405020304" pitchFamily="18" charset="0"/>
                <a:cs typeface="Times New Roman" panose="02020603050405020304" pitchFamily="18" charset="0"/>
              </a:rPr>
              <a:t>Classifies metrics such as deaths, infections and ART coverage</a:t>
            </a:r>
            <a:endParaRPr lang="en-GB" sz="14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B79C0DFF-69DC-14AD-BCF1-2FB60D659EFD}"/>
              </a:ext>
            </a:extLst>
          </p:cNvPr>
          <p:cNvSpPr txBox="1"/>
          <p:nvPr/>
        </p:nvSpPr>
        <p:spPr>
          <a:xfrm>
            <a:off x="149165" y="126125"/>
            <a:ext cx="6096000" cy="400110"/>
          </a:xfrm>
          <a:prstGeom prst="rect">
            <a:avLst/>
          </a:prstGeom>
          <a:noFill/>
        </p:spPr>
        <p:txBody>
          <a:bodyPr wrap="square">
            <a:sp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Data Modelling: Star Schema Design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A5A1BDE0-4AA6-0255-1EA0-CC5762996B86}"/>
              </a:ext>
            </a:extLst>
          </p:cNvPr>
          <p:cNvSpPr txBox="1"/>
          <p:nvPr/>
        </p:nvSpPr>
        <p:spPr>
          <a:xfrm>
            <a:off x="358281" y="5217756"/>
            <a:ext cx="5946008" cy="307777"/>
          </a:xfrm>
          <a:prstGeom prst="rect">
            <a:avLst/>
          </a:prstGeom>
          <a:noFill/>
        </p:spPr>
        <p:txBody>
          <a:bodyPr wrap="square">
            <a:spAutoFit/>
          </a:bodyPr>
          <a:lstStyle/>
          <a:p>
            <a:pPr marL="0" indent="0">
              <a:buNone/>
            </a:pPr>
            <a:r>
              <a:rPr lang="en-US" sz="1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Fact table connected to date, location and indicator dimensions</a:t>
            </a:r>
          </a:p>
        </p:txBody>
      </p:sp>
    </p:spTree>
    <p:extLst>
      <p:ext uri="{BB962C8B-B14F-4D97-AF65-F5344CB8AC3E}">
        <p14:creationId xmlns:p14="http://schemas.microsoft.com/office/powerpoint/2010/main" val="2997424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7846-813E-A543-39B3-66064A80F1C3}"/>
              </a:ext>
            </a:extLst>
          </p:cNvPr>
          <p:cNvSpPr>
            <a:spLocks noGrp="1"/>
          </p:cNvSpPr>
          <p:nvPr>
            <p:ph type="title"/>
          </p:nvPr>
        </p:nvSpPr>
        <p:spPr>
          <a:xfrm>
            <a:off x="166873" y="173313"/>
            <a:ext cx="10925670" cy="823504"/>
          </a:xfrm>
        </p:spPr>
        <p:txBody>
          <a:bodyPr>
            <a:normAutofit/>
          </a:bodyPr>
          <a:lstStyle/>
          <a:p>
            <a:r>
              <a:rPr lang="en-US" dirty="0"/>
              <a:t>Over The Years Analysis(2000 -2004)</a:t>
            </a:r>
            <a:endParaRPr lang="en-GB" dirty="0"/>
          </a:p>
        </p:txBody>
      </p:sp>
      <p:pic>
        <p:nvPicPr>
          <p:cNvPr id="10" name="Picture 9" descr="The image displays a global HIV burden and treatment coverage analysis, featuring statistics on the number of people living with HIV, new infections, ART coverage, death rates, and survival rates, along with a comparison of high-infection countries and ART coverage.&#10;&#10;AI-generated content may be incorrect.">
            <a:extLst>
              <a:ext uri="{FF2B5EF4-FFF2-40B4-BE49-F238E27FC236}">
                <a16:creationId xmlns:a16="http://schemas.microsoft.com/office/drawing/2014/main" id="{C9BA6E61-B6F9-9287-4807-DBBF4E97A677}"/>
              </a:ext>
            </a:extLst>
          </p:cNvPr>
          <p:cNvPicPr>
            <a:picLocks noChangeAspect="1"/>
          </p:cNvPicPr>
          <p:nvPr/>
        </p:nvPicPr>
        <p:blipFill>
          <a:blip r:embed="rId2"/>
          <a:stretch>
            <a:fillRect/>
          </a:stretch>
        </p:blipFill>
        <p:spPr>
          <a:xfrm>
            <a:off x="2098026" y="1186534"/>
            <a:ext cx="7582290" cy="5048509"/>
          </a:xfrm>
          <a:prstGeom prst="rect">
            <a:avLst/>
          </a:prstGeom>
        </p:spPr>
      </p:pic>
    </p:spTree>
    <p:extLst>
      <p:ext uri="{BB962C8B-B14F-4D97-AF65-F5344CB8AC3E}">
        <p14:creationId xmlns:p14="http://schemas.microsoft.com/office/powerpoint/2010/main" val="398895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54774-EC10-9DEF-7AA2-D67C18D2F338}"/>
              </a:ext>
            </a:extLst>
          </p:cNvPr>
          <p:cNvSpPr>
            <a:spLocks noGrp="1"/>
          </p:cNvSpPr>
          <p:nvPr>
            <p:ph type="title"/>
          </p:nvPr>
        </p:nvSpPr>
        <p:spPr>
          <a:xfrm>
            <a:off x="10032" y="35827"/>
            <a:ext cx="9956747" cy="903655"/>
          </a:xfrm>
        </p:spPr>
        <p:txBody>
          <a:bodyPr>
            <a:normAutofit/>
          </a:bodyPr>
          <a:lstStyle/>
          <a:p>
            <a:r>
              <a:rPr lang="en-US" sz="3600" dirty="0" err="1">
                <a:latin typeface="Calibri" panose="020F0502020204030204" pitchFamily="34" charset="0"/>
                <a:ea typeface="Calibri" panose="020F0502020204030204" pitchFamily="34" charset="0"/>
                <a:cs typeface="Calibri" panose="020F0502020204030204" pitchFamily="34" charset="0"/>
              </a:rPr>
              <a:t>PowerBI</a:t>
            </a:r>
            <a:r>
              <a:rPr lang="en-US" sz="3600" dirty="0">
                <a:latin typeface="Calibri" panose="020F0502020204030204" pitchFamily="34" charset="0"/>
                <a:ea typeface="Calibri" panose="020F0502020204030204" pitchFamily="34" charset="0"/>
                <a:cs typeface="Calibri" panose="020F0502020204030204" pitchFamily="34" charset="0"/>
              </a:rPr>
              <a:t> Dashboard Overview (Current Year)</a:t>
            </a:r>
          </a:p>
        </p:txBody>
      </p:sp>
      <p:pic>
        <p:nvPicPr>
          <p:cNvPr id="12" name="Picture 11" descr="The image displays a data visualization of HIV statistics, including global prevalence, new infections, treatment coverage, and death rates by country.&#10;&#10;AI-generated content may be incorrect.">
            <a:extLst>
              <a:ext uri="{FF2B5EF4-FFF2-40B4-BE49-F238E27FC236}">
                <a16:creationId xmlns:a16="http://schemas.microsoft.com/office/drawing/2014/main" id="{D718F49A-FA7A-F4C8-55A5-2E476A23E571}"/>
              </a:ext>
            </a:extLst>
          </p:cNvPr>
          <p:cNvPicPr>
            <a:picLocks noChangeAspect="1"/>
          </p:cNvPicPr>
          <p:nvPr/>
        </p:nvPicPr>
        <p:blipFill>
          <a:blip r:embed="rId3"/>
          <a:stretch>
            <a:fillRect/>
          </a:stretch>
        </p:blipFill>
        <p:spPr>
          <a:xfrm>
            <a:off x="768930" y="1273629"/>
            <a:ext cx="8438950" cy="4723544"/>
          </a:xfrm>
          <a:prstGeom prst="rect">
            <a:avLst/>
          </a:prstGeom>
        </p:spPr>
      </p:pic>
    </p:spTree>
    <p:extLst>
      <p:ext uri="{BB962C8B-B14F-4D97-AF65-F5344CB8AC3E}">
        <p14:creationId xmlns:p14="http://schemas.microsoft.com/office/powerpoint/2010/main" val="479172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2E9F-C4A5-54E2-C767-93EF9BD711B7}"/>
              </a:ext>
            </a:extLst>
          </p:cNvPr>
          <p:cNvSpPr>
            <a:spLocks noGrp="1"/>
          </p:cNvSpPr>
          <p:nvPr>
            <p:ph type="title"/>
          </p:nvPr>
        </p:nvSpPr>
        <p:spPr>
          <a:xfrm>
            <a:off x="0" y="181303"/>
            <a:ext cx="9956747" cy="623369"/>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Key KPI Insights: 2024</a:t>
            </a:r>
          </a:p>
        </p:txBody>
      </p:sp>
      <p:sp>
        <p:nvSpPr>
          <p:cNvPr id="11" name="Shape 1">
            <a:extLst>
              <a:ext uri="{FF2B5EF4-FFF2-40B4-BE49-F238E27FC236}">
                <a16:creationId xmlns:a16="http://schemas.microsoft.com/office/drawing/2014/main" id="{0E18B660-90DA-106E-FA33-D6DA16D24DB4}"/>
              </a:ext>
            </a:extLst>
          </p:cNvPr>
          <p:cNvSpPr/>
          <p:nvPr/>
        </p:nvSpPr>
        <p:spPr>
          <a:xfrm>
            <a:off x="0" y="6693408"/>
            <a:ext cx="12191695" cy="164592"/>
          </a:xfrm>
          <a:prstGeom prst="rect">
            <a:avLst/>
          </a:prstGeom>
          <a:solidFill>
            <a:srgbClr val="1F2937"/>
          </a:solidFill>
          <a:ln w="12700">
            <a:solidFill>
              <a:srgbClr val="1F2937"/>
            </a:solidFill>
            <a:prstDash val="solid"/>
          </a:ln>
        </p:spPr>
        <p:txBody>
          <a:bodyPr/>
          <a:lstStyle/>
          <a:p>
            <a:endParaRPr lang="en-GB"/>
          </a:p>
        </p:txBody>
      </p:sp>
      <p:sp>
        <p:nvSpPr>
          <p:cNvPr id="13" name="Text 3">
            <a:extLst>
              <a:ext uri="{FF2B5EF4-FFF2-40B4-BE49-F238E27FC236}">
                <a16:creationId xmlns:a16="http://schemas.microsoft.com/office/drawing/2014/main" id="{37264C9F-5AAB-D2A9-764B-768B71EA88D4}"/>
              </a:ext>
            </a:extLst>
          </p:cNvPr>
          <p:cNvSpPr/>
          <p:nvPr/>
        </p:nvSpPr>
        <p:spPr>
          <a:xfrm>
            <a:off x="214472" y="756169"/>
            <a:ext cx="10515600" cy="274320"/>
          </a:xfrm>
          <a:prstGeom prst="rect">
            <a:avLst/>
          </a:prstGeom>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KPI values from the dashboard</a:t>
            </a:r>
          </a:p>
        </p:txBody>
      </p:sp>
      <p:sp>
        <p:nvSpPr>
          <p:cNvPr id="14" name="Shape 4">
            <a:extLst>
              <a:ext uri="{FF2B5EF4-FFF2-40B4-BE49-F238E27FC236}">
                <a16:creationId xmlns:a16="http://schemas.microsoft.com/office/drawing/2014/main" id="{0F8A4F3D-19EA-7A0F-3835-CE787F365FBF}"/>
              </a:ext>
            </a:extLst>
          </p:cNvPr>
          <p:cNvSpPr/>
          <p:nvPr/>
        </p:nvSpPr>
        <p:spPr>
          <a:xfrm>
            <a:off x="214473" y="1125922"/>
            <a:ext cx="3291840" cy="1371600"/>
          </a:xfrm>
          <a:prstGeom prst="roundRect">
            <a:avLst>
              <a:gd name="adj" fmla="val 5333"/>
            </a:avLst>
          </a:prstGeom>
          <a:solidFill>
            <a:srgbClr val="E6F4FA"/>
          </a:solidFill>
          <a:ln w="17780">
            <a:solidFill>
              <a:srgbClr val="B7DFF0"/>
            </a:solidFill>
            <a:prstDash val="solid"/>
          </a:ln>
        </p:spPr>
        <p:txBody>
          <a:bodyPr/>
          <a:lstStyle/>
          <a:p>
            <a:endParaRPr lang="en-GB" dirty="0"/>
          </a:p>
        </p:txBody>
      </p:sp>
      <p:sp>
        <p:nvSpPr>
          <p:cNvPr id="15" name="Text 5">
            <a:extLst>
              <a:ext uri="{FF2B5EF4-FFF2-40B4-BE49-F238E27FC236}">
                <a16:creationId xmlns:a16="http://schemas.microsoft.com/office/drawing/2014/main" id="{5C2513E5-6BDC-D7A5-E78C-6DDA803A2625}"/>
              </a:ext>
            </a:extLst>
          </p:cNvPr>
          <p:cNvSpPr/>
          <p:nvPr/>
        </p:nvSpPr>
        <p:spPr>
          <a:xfrm>
            <a:off x="868680" y="147218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People living with HIV</a:t>
            </a:r>
            <a:endParaRPr lang="en-US" sz="1200" dirty="0"/>
          </a:p>
        </p:txBody>
      </p:sp>
      <p:sp>
        <p:nvSpPr>
          <p:cNvPr id="16" name="Text 6">
            <a:extLst>
              <a:ext uri="{FF2B5EF4-FFF2-40B4-BE49-F238E27FC236}">
                <a16:creationId xmlns:a16="http://schemas.microsoft.com/office/drawing/2014/main" id="{B2D6A109-23BD-8629-29FB-E913F1B39453}"/>
              </a:ext>
            </a:extLst>
          </p:cNvPr>
          <p:cNvSpPr/>
          <p:nvPr/>
        </p:nvSpPr>
        <p:spPr>
          <a:xfrm>
            <a:off x="868680" y="1764792"/>
            <a:ext cx="2834640" cy="411480"/>
          </a:xfrm>
          <a:prstGeom prst="rect">
            <a:avLst/>
          </a:prstGeom>
          <a:noFill/>
          <a:ln/>
        </p:spPr>
        <p:txBody>
          <a:bodyPr wrap="square" lIns="0" tIns="0" rIns="0" bIns="0" rtlCol="0" anchor="ctr"/>
          <a:lstStyle/>
          <a:p>
            <a:pPr marL="0" indent="0">
              <a:buNone/>
            </a:pPr>
            <a:r>
              <a:rPr lang="en-US" sz="2600" b="1" dirty="0">
                <a:solidFill>
                  <a:srgbClr val="1F2937"/>
                </a:solidFill>
              </a:rPr>
              <a:t>35.23M</a:t>
            </a:r>
            <a:endParaRPr lang="en-US" sz="2600" dirty="0"/>
          </a:p>
        </p:txBody>
      </p:sp>
      <p:sp>
        <p:nvSpPr>
          <p:cNvPr id="17" name="Text 7">
            <a:extLst>
              <a:ext uri="{FF2B5EF4-FFF2-40B4-BE49-F238E27FC236}">
                <a16:creationId xmlns:a16="http://schemas.microsoft.com/office/drawing/2014/main" id="{CDD3F0C9-8A91-82DD-29AB-7B8FB9124F9D}"/>
              </a:ext>
            </a:extLst>
          </p:cNvPr>
          <p:cNvSpPr/>
          <p:nvPr/>
        </p:nvSpPr>
        <p:spPr>
          <a:xfrm>
            <a:off x="868680" y="2286000"/>
            <a:ext cx="2743200" cy="228600"/>
          </a:xfrm>
          <a:prstGeom prst="rect">
            <a:avLst/>
          </a:prstGeom>
          <a:noFill/>
          <a:ln/>
        </p:spPr>
        <p:txBody>
          <a:bodyPr wrap="square" lIns="0" tIns="0" rIns="0" bIns="0" rtlCol="0" anchor="ctr"/>
          <a:lstStyle/>
          <a:p>
            <a:pPr marL="0" indent="0">
              <a:buNone/>
            </a:pPr>
            <a:r>
              <a:rPr lang="en-US" sz="1150" dirty="0">
                <a:solidFill>
                  <a:srgbClr val="C62828"/>
                </a:solidFill>
              </a:rPr>
              <a:t>+8.14% Vs PY</a:t>
            </a:r>
            <a:endParaRPr lang="en-US" sz="1150" dirty="0"/>
          </a:p>
        </p:txBody>
      </p:sp>
      <p:sp>
        <p:nvSpPr>
          <p:cNvPr id="18" name="Shape 8">
            <a:extLst>
              <a:ext uri="{FF2B5EF4-FFF2-40B4-BE49-F238E27FC236}">
                <a16:creationId xmlns:a16="http://schemas.microsoft.com/office/drawing/2014/main" id="{9FB8E448-0628-13D6-9963-EBB8C25EFBD9}"/>
              </a:ext>
            </a:extLst>
          </p:cNvPr>
          <p:cNvSpPr/>
          <p:nvPr/>
        </p:nvSpPr>
        <p:spPr>
          <a:xfrm>
            <a:off x="4034379" y="1125922"/>
            <a:ext cx="3291840" cy="1371600"/>
          </a:xfrm>
          <a:prstGeom prst="roundRect">
            <a:avLst>
              <a:gd name="adj" fmla="val 5333"/>
            </a:avLst>
          </a:prstGeom>
          <a:solidFill>
            <a:srgbClr val="E6F4FA"/>
          </a:solidFill>
          <a:ln w="17780">
            <a:solidFill>
              <a:srgbClr val="B7DFF0"/>
            </a:solidFill>
            <a:prstDash val="solid"/>
          </a:ln>
        </p:spPr>
        <p:txBody>
          <a:bodyPr/>
          <a:lstStyle/>
          <a:p>
            <a:endParaRPr lang="en-GB"/>
          </a:p>
        </p:txBody>
      </p:sp>
      <p:sp>
        <p:nvSpPr>
          <p:cNvPr id="19" name="Text 9">
            <a:extLst>
              <a:ext uri="{FF2B5EF4-FFF2-40B4-BE49-F238E27FC236}">
                <a16:creationId xmlns:a16="http://schemas.microsoft.com/office/drawing/2014/main" id="{8C2C5A9D-E283-E1F7-EF8A-299F71B3EC87}"/>
              </a:ext>
            </a:extLst>
          </p:cNvPr>
          <p:cNvSpPr/>
          <p:nvPr/>
        </p:nvSpPr>
        <p:spPr>
          <a:xfrm>
            <a:off x="4663440" y="147218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New infections</a:t>
            </a:r>
            <a:endParaRPr lang="en-US" sz="1200" dirty="0"/>
          </a:p>
        </p:txBody>
      </p:sp>
      <p:sp>
        <p:nvSpPr>
          <p:cNvPr id="20" name="Text 10">
            <a:extLst>
              <a:ext uri="{FF2B5EF4-FFF2-40B4-BE49-F238E27FC236}">
                <a16:creationId xmlns:a16="http://schemas.microsoft.com/office/drawing/2014/main" id="{041ABD67-44AA-B3EB-1EED-27FC8791C7F6}"/>
              </a:ext>
            </a:extLst>
          </p:cNvPr>
          <p:cNvSpPr/>
          <p:nvPr/>
        </p:nvSpPr>
        <p:spPr>
          <a:xfrm>
            <a:off x="4663440" y="1764792"/>
            <a:ext cx="2834640" cy="411480"/>
          </a:xfrm>
          <a:prstGeom prst="rect">
            <a:avLst/>
          </a:prstGeom>
          <a:noFill/>
          <a:ln/>
        </p:spPr>
        <p:txBody>
          <a:bodyPr wrap="square" lIns="0" tIns="0" rIns="0" bIns="0" rtlCol="0" anchor="ctr"/>
          <a:lstStyle/>
          <a:p>
            <a:pPr marL="0" indent="0">
              <a:buNone/>
            </a:pPr>
            <a:r>
              <a:rPr lang="en-US" sz="2600" b="1" dirty="0">
                <a:solidFill>
                  <a:srgbClr val="009CDE"/>
                </a:solidFill>
              </a:rPr>
              <a:t>984K</a:t>
            </a:r>
            <a:endParaRPr lang="en-US" sz="2600" dirty="0"/>
          </a:p>
        </p:txBody>
      </p:sp>
      <p:sp>
        <p:nvSpPr>
          <p:cNvPr id="21" name="Text 11">
            <a:extLst>
              <a:ext uri="{FF2B5EF4-FFF2-40B4-BE49-F238E27FC236}">
                <a16:creationId xmlns:a16="http://schemas.microsoft.com/office/drawing/2014/main" id="{575D9601-0A25-0DF9-A6F3-D33A7AB66A5B}"/>
              </a:ext>
            </a:extLst>
          </p:cNvPr>
          <p:cNvSpPr/>
          <p:nvPr/>
        </p:nvSpPr>
        <p:spPr>
          <a:xfrm>
            <a:off x="4663440" y="2286000"/>
            <a:ext cx="2743200" cy="228600"/>
          </a:xfrm>
          <a:prstGeom prst="rect">
            <a:avLst/>
          </a:prstGeom>
          <a:noFill/>
          <a:ln/>
        </p:spPr>
        <p:txBody>
          <a:bodyPr wrap="square" lIns="0" tIns="0" rIns="0" bIns="0" rtlCol="0" anchor="ctr"/>
          <a:lstStyle/>
          <a:p>
            <a:pPr marL="0" indent="0">
              <a:buNone/>
            </a:pPr>
            <a:r>
              <a:rPr lang="en-US" sz="1150" dirty="0">
                <a:solidFill>
                  <a:srgbClr val="C62828"/>
                </a:solidFill>
              </a:rPr>
              <a:t>+0.25% Vs PY</a:t>
            </a:r>
            <a:endParaRPr lang="en-US" sz="1150" dirty="0"/>
          </a:p>
        </p:txBody>
      </p:sp>
      <p:sp>
        <p:nvSpPr>
          <p:cNvPr id="22" name="Shape 12">
            <a:extLst>
              <a:ext uri="{FF2B5EF4-FFF2-40B4-BE49-F238E27FC236}">
                <a16:creationId xmlns:a16="http://schemas.microsoft.com/office/drawing/2014/main" id="{FA374973-45C8-DED4-3153-EFE1264DD181}"/>
              </a:ext>
            </a:extLst>
          </p:cNvPr>
          <p:cNvSpPr/>
          <p:nvPr/>
        </p:nvSpPr>
        <p:spPr>
          <a:xfrm>
            <a:off x="7854285" y="1125922"/>
            <a:ext cx="3291840" cy="1371600"/>
          </a:xfrm>
          <a:prstGeom prst="roundRect">
            <a:avLst>
              <a:gd name="adj" fmla="val 5333"/>
            </a:avLst>
          </a:prstGeom>
          <a:solidFill>
            <a:srgbClr val="E6F4FA"/>
          </a:solidFill>
          <a:ln w="17780">
            <a:solidFill>
              <a:srgbClr val="B7DFF0"/>
            </a:solidFill>
            <a:prstDash val="solid"/>
          </a:ln>
        </p:spPr>
        <p:txBody>
          <a:bodyPr/>
          <a:lstStyle/>
          <a:p>
            <a:endParaRPr lang="en-GB"/>
          </a:p>
        </p:txBody>
      </p:sp>
      <p:sp>
        <p:nvSpPr>
          <p:cNvPr id="23" name="Text 13">
            <a:extLst>
              <a:ext uri="{FF2B5EF4-FFF2-40B4-BE49-F238E27FC236}">
                <a16:creationId xmlns:a16="http://schemas.microsoft.com/office/drawing/2014/main" id="{41E2B7F2-C61C-CC95-1339-795EEBE6E80D}"/>
              </a:ext>
            </a:extLst>
          </p:cNvPr>
          <p:cNvSpPr/>
          <p:nvPr/>
        </p:nvSpPr>
        <p:spPr>
          <a:xfrm>
            <a:off x="8458200" y="147218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ART coverage</a:t>
            </a:r>
            <a:endParaRPr lang="en-US" sz="1200" dirty="0"/>
          </a:p>
        </p:txBody>
      </p:sp>
      <p:sp>
        <p:nvSpPr>
          <p:cNvPr id="24" name="Text 14">
            <a:extLst>
              <a:ext uri="{FF2B5EF4-FFF2-40B4-BE49-F238E27FC236}">
                <a16:creationId xmlns:a16="http://schemas.microsoft.com/office/drawing/2014/main" id="{2AE3CD29-F15E-29CA-6705-C419FA93F2F2}"/>
              </a:ext>
            </a:extLst>
          </p:cNvPr>
          <p:cNvSpPr/>
          <p:nvPr/>
        </p:nvSpPr>
        <p:spPr>
          <a:xfrm>
            <a:off x="8458200" y="1764792"/>
            <a:ext cx="2834640" cy="411480"/>
          </a:xfrm>
          <a:prstGeom prst="rect">
            <a:avLst/>
          </a:prstGeom>
          <a:noFill/>
          <a:ln/>
        </p:spPr>
        <p:txBody>
          <a:bodyPr wrap="square" lIns="0" tIns="0" rIns="0" bIns="0" rtlCol="0" anchor="ctr"/>
          <a:lstStyle/>
          <a:p>
            <a:pPr marL="0" indent="0">
              <a:buNone/>
            </a:pPr>
            <a:r>
              <a:rPr lang="en-US" sz="2600" b="1" dirty="0">
                <a:solidFill>
                  <a:srgbClr val="0F766E"/>
                </a:solidFill>
              </a:rPr>
              <a:t>66.36%</a:t>
            </a:r>
            <a:endParaRPr lang="en-US" sz="2600" dirty="0"/>
          </a:p>
        </p:txBody>
      </p:sp>
      <p:sp>
        <p:nvSpPr>
          <p:cNvPr id="25" name="Text 15">
            <a:extLst>
              <a:ext uri="{FF2B5EF4-FFF2-40B4-BE49-F238E27FC236}">
                <a16:creationId xmlns:a16="http://schemas.microsoft.com/office/drawing/2014/main" id="{120B6137-C30A-E94E-EA75-FABFCAC858C4}"/>
              </a:ext>
            </a:extLst>
          </p:cNvPr>
          <p:cNvSpPr/>
          <p:nvPr/>
        </p:nvSpPr>
        <p:spPr>
          <a:xfrm>
            <a:off x="8458200" y="2286000"/>
            <a:ext cx="2743200" cy="228600"/>
          </a:xfrm>
          <a:prstGeom prst="rect">
            <a:avLst/>
          </a:prstGeom>
          <a:noFill/>
          <a:ln/>
        </p:spPr>
        <p:txBody>
          <a:bodyPr wrap="square" lIns="0" tIns="0" rIns="0" bIns="0" rtlCol="0" anchor="ctr"/>
          <a:lstStyle/>
          <a:p>
            <a:pPr marL="0" indent="0">
              <a:buNone/>
            </a:pPr>
            <a:r>
              <a:rPr lang="en-US" sz="1150" dirty="0">
                <a:solidFill>
                  <a:srgbClr val="0F766E"/>
                </a:solidFill>
              </a:rPr>
              <a:t>+2.13% Vs PY</a:t>
            </a:r>
            <a:endParaRPr lang="en-US" sz="1150" dirty="0"/>
          </a:p>
        </p:txBody>
      </p:sp>
      <p:sp>
        <p:nvSpPr>
          <p:cNvPr id="26" name="Shape 16">
            <a:extLst>
              <a:ext uri="{FF2B5EF4-FFF2-40B4-BE49-F238E27FC236}">
                <a16:creationId xmlns:a16="http://schemas.microsoft.com/office/drawing/2014/main" id="{7270CDA6-01E0-BFA4-3E3E-627F7071B07B}"/>
              </a:ext>
            </a:extLst>
          </p:cNvPr>
          <p:cNvSpPr/>
          <p:nvPr/>
        </p:nvSpPr>
        <p:spPr>
          <a:xfrm>
            <a:off x="214473" y="3057167"/>
            <a:ext cx="3291840" cy="1371600"/>
          </a:xfrm>
          <a:prstGeom prst="roundRect">
            <a:avLst>
              <a:gd name="adj" fmla="val 5333"/>
            </a:avLst>
          </a:prstGeom>
          <a:solidFill>
            <a:srgbClr val="E6F4FA"/>
          </a:solidFill>
          <a:ln w="17780">
            <a:solidFill>
              <a:srgbClr val="B7DFF0"/>
            </a:solidFill>
            <a:prstDash val="solid"/>
          </a:ln>
        </p:spPr>
        <p:txBody>
          <a:bodyPr/>
          <a:lstStyle/>
          <a:p>
            <a:endParaRPr lang="en-GB"/>
          </a:p>
        </p:txBody>
      </p:sp>
      <p:sp>
        <p:nvSpPr>
          <p:cNvPr id="27" name="Text 17">
            <a:extLst>
              <a:ext uri="{FF2B5EF4-FFF2-40B4-BE49-F238E27FC236}">
                <a16:creationId xmlns:a16="http://schemas.microsoft.com/office/drawing/2014/main" id="{290FE8AA-E9C0-338E-9368-CA2636DA2123}"/>
              </a:ext>
            </a:extLst>
          </p:cNvPr>
          <p:cNvSpPr/>
          <p:nvPr/>
        </p:nvSpPr>
        <p:spPr>
          <a:xfrm>
            <a:off x="868680" y="334670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Death rate</a:t>
            </a:r>
            <a:endParaRPr lang="en-US" sz="1200" dirty="0"/>
          </a:p>
        </p:txBody>
      </p:sp>
      <p:sp>
        <p:nvSpPr>
          <p:cNvPr id="28" name="Text 18">
            <a:extLst>
              <a:ext uri="{FF2B5EF4-FFF2-40B4-BE49-F238E27FC236}">
                <a16:creationId xmlns:a16="http://schemas.microsoft.com/office/drawing/2014/main" id="{1E787B32-49A9-EA45-AACB-3B46FE3FFFB7}"/>
              </a:ext>
            </a:extLst>
          </p:cNvPr>
          <p:cNvSpPr/>
          <p:nvPr/>
        </p:nvSpPr>
        <p:spPr>
          <a:xfrm>
            <a:off x="868680" y="3639312"/>
            <a:ext cx="2834640" cy="411480"/>
          </a:xfrm>
          <a:prstGeom prst="rect">
            <a:avLst/>
          </a:prstGeom>
          <a:noFill/>
          <a:ln/>
        </p:spPr>
        <p:txBody>
          <a:bodyPr wrap="square" lIns="0" tIns="0" rIns="0" bIns="0" rtlCol="0" anchor="ctr"/>
          <a:lstStyle/>
          <a:p>
            <a:pPr marL="0" indent="0">
              <a:buNone/>
            </a:pPr>
            <a:r>
              <a:rPr lang="en-US" sz="2600" b="1" dirty="0">
                <a:solidFill>
                  <a:srgbClr val="0F766E"/>
                </a:solidFill>
              </a:rPr>
              <a:t>1.49%</a:t>
            </a:r>
            <a:endParaRPr lang="en-US" sz="2600" dirty="0"/>
          </a:p>
        </p:txBody>
      </p:sp>
      <p:sp>
        <p:nvSpPr>
          <p:cNvPr id="29" name="Text 19">
            <a:extLst>
              <a:ext uri="{FF2B5EF4-FFF2-40B4-BE49-F238E27FC236}">
                <a16:creationId xmlns:a16="http://schemas.microsoft.com/office/drawing/2014/main" id="{22F11D81-28CB-39BF-ECF0-66F99C8A6CED}"/>
              </a:ext>
            </a:extLst>
          </p:cNvPr>
          <p:cNvSpPr/>
          <p:nvPr/>
        </p:nvSpPr>
        <p:spPr>
          <a:xfrm>
            <a:off x="868680" y="4160520"/>
            <a:ext cx="2743200" cy="228600"/>
          </a:xfrm>
          <a:prstGeom prst="rect">
            <a:avLst/>
          </a:prstGeom>
          <a:noFill/>
          <a:ln/>
        </p:spPr>
        <p:txBody>
          <a:bodyPr wrap="square" lIns="0" tIns="0" rIns="0" bIns="0" rtlCol="0" anchor="ctr"/>
          <a:lstStyle/>
          <a:p>
            <a:pPr marL="0" indent="0">
              <a:buNone/>
            </a:pPr>
            <a:r>
              <a:rPr lang="en-US" sz="1150" dirty="0">
                <a:solidFill>
                  <a:srgbClr val="0F766E"/>
                </a:solidFill>
              </a:rPr>
              <a:t>-6.44% Vs PY</a:t>
            </a:r>
            <a:endParaRPr lang="en-US" sz="1150" dirty="0"/>
          </a:p>
        </p:txBody>
      </p:sp>
      <p:sp>
        <p:nvSpPr>
          <p:cNvPr id="30" name="Shape 20">
            <a:extLst>
              <a:ext uri="{FF2B5EF4-FFF2-40B4-BE49-F238E27FC236}">
                <a16:creationId xmlns:a16="http://schemas.microsoft.com/office/drawing/2014/main" id="{BB0398DD-EF9F-31E3-5A5E-21250BA2A873}"/>
              </a:ext>
            </a:extLst>
          </p:cNvPr>
          <p:cNvSpPr/>
          <p:nvPr/>
        </p:nvSpPr>
        <p:spPr>
          <a:xfrm>
            <a:off x="4002786" y="3057167"/>
            <a:ext cx="3291840" cy="1371600"/>
          </a:xfrm>
          <a:prstGeom prst="roundRect">
            <a:avLst>
              <a:gd name="adj" fmla="val 5333"/>
            </a:avLst>
          </a:prstGeom>
          <a:solidFill>
            <a:srgbClr val="E6F4FA"/>
          </a:solidFill>
          <a:ln w="17780">
            <a:solidFill>
              <a:srgbClr val="B7DFF0"/>
            </a:solidFill>
            <a:prstDash val="solid"/>
          </a:ln>
        </p:spPr>
        <p:txBody>
          <a:bodyPr/>
          <a:lstStyle/>
          <a:p>
            <a:endParaRPr lang="en-GB"/>
          </a:p>
        </p:txBody>
      </p:sp>
      <p:sp>
        <p:nvSpPr>
          <p:cNvPr id="31" name="Text 21">
            <a:extLst>
              <a:ext uri="{FF2B5EF4-FFF2-40B4-BE49-F238E27FC236}">
                <a16:creationId xmlns:a16="http://schemas.microsoft.com/office/drawing/2014/main" id="{73798C32-E167-1D48-A880-06A9EEA6CD64}"/>
              </a:ext>
            </a:extLst>
          </p:cNvPr>
          <p:cNvSpPr/>
          <p:nvPr/>
        </p:nvSpPr>
        <p:spPr>
          <a:xfrm>
            <a:off x="4663440" y="334670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Survival rate</a:t>
            </a:r>
            <a:endParaRPr lang="en-US" sz="1200" dirty="0"/>
          </a:p>
        </p:txBody>
      </p:sp>
      <p:sp>
        <p:nvSpPr>
          <p:cNvPr id="32" name="Text 22">
            <a:extLst>
              <a:ext uri="{FF2B5EF4-FFF2-40B4-BE49-F238E27FC236}">
                <a16:creationId xmlns:a16="http://schemas.microsoft.com/office/drawing/2014/main" id="{5F90FEB5-FA04-C51D-768C-F0866B890F00}"/>
              </a:ext>
            </a:extLst>
          </p:cNvPr>
          <p:cNvSpPr/>
          <p:nvPr/>
        </p:nvSpPr>
        <p:spPr>
          <a:xfrm>
            <a:off x="4663440" y="3639312"/>
            <a:ext cx="2834640" cy="411480"/>
          </a:xfrm>
          <a:prstGeom prst="rect">
            <a:avLst/>
          </a:prstGeom>
          <a:noFill/>
          <a:ln/>
        </p:spPr>
        <p:txBody>
          <a:bodyPr wrap="square" lIns="0" tIns="0" rIns="0" bIns="0" rtlCol="0" anchor="ctr"/>
          <a:lstStyle/>
          <a:p>
            <a:pPr marL="0" indent="0">
              <a:buNone/>
            </a:pPr>
            <a:r>
              <a:rPr lang="en-US" sz="2600" b="1" dirty="0">
                <a:solidFill>
                  <a:srgbClr val="0F766E"/>
                </a:solidFill>
              </a:rPr>
              <a:t>98.51%</a:t>
            </a:r>
            <a:endParaRPr lang="en-US" sz="2600" dirty="0"/>
          </a:p>
        </p:txBody>
      </p:sp>
      <p:sp>
        <p:nvSpPr>
          <p:cNvPr id="33" name="Text 23">
            <a:extLst>
              <a:ext uri="{FF2B5EF4-FFF2-40B4-BE49-F238E27FC236}">
                <a16:creationId xmlns:a16="http://schemas.microsoft.com/office/drawing/2014/main" id="{9669DAAB-2186-13CF-5AEF-8CE794AE4A6E}"/>
              </a:ext>
            </a:extLst>
          </p:cNvPr>
          <p:cNvSpPr/>
          <p:nvPr/>
        </p:nvSpPr>
        <p:spPr>
          <a:xfrm>
            <a:off x="4663440" y="4160520"/>
            <a:ext cx="2743200" cy="228600"/>
          </a:xfrm>
          <a:prstGeom prst="rect">
            <a:avLst/>
          </a:prstGeom>
          <a:noFill/>
          <a:ln/>
        </p:spPr>
        <p:txBody>
          <a:bodyPr wrap="square" lIns="0" tIns="0" rIns="0" bIns="0" rtlCol="0" anchor="ctr"/>
          <a:lstStyle/>
          <a:p>
            <a:pPr marL="0" indent="0">
              <a:buNone/>
            </a:pPr>
            <a:r>
              <a:rPr lang="en-US" sz="1150" dirty="0">
                <a:solidFill>
                  <a:srgbClr val="0F766E"/>
                </a:solidFill>
              </a:rPr>
              <a:t>+0.10% Vs PY</a:t>
            </a:r>
            <a:endParaRPr lang="en-US" sz="1150" dirty="0"/>
          </a:p>
        </p:txBody>
      </p:sp>
      <p:sp>
        <p:nvSpPr>
          <p:cNvPr id="34" name="Shape 24">
            <a:extLst>
              <a:ext uri="{FF2B5EF4-FFF2-40B4-BE49-F238E27FC236}">
                <a16:creationId xmlns:a16="http://schemas.microsoft.com/office/drawing/2014/main" id="{0E67764C-D48A-16B8-1831-7DE59CB0E06D}"/>
              </a:ext>
            </a:extLst>
          </p:cNvPr>
          <p:cNvSpPr/>
          <p:nvPr/>
        </p:nvSpPr>
        <p:spPr>
          <a:xfrm>
            <a:off x="7822692" y="3057167"/>
            <a:ext cx="3291840" cy="1371600"/>
          </a:xfrm>
          <a:prstGeom prst="roundRect">
            <a:avLst>
              <a:gd name="adj" fmla="val 5333"/>
            </a:avLst>
          </a:prstGeom>
          <a:solidFill>
            <a:srgbClr val="E6F4FA"/>
          </a:solidFill>
          <a:ln w="17780">
            <a:solidFill>
              <a:srgbClr val="B7DFF0"/>
            </a:solidFill>
            <a:prstDash val="solid"/>
          </a:ln>
        </p:spPr>
        <p:txBody>
          <a:bodyPr/>
          <a:lstStyle/>
          <a:p>
            <a:endParaRPr lang="en-GB"/>
          </a:p>
        </p:txBody>
      </p:sp>
      <p:sp>
        <p:nvSpPr>
          <p:cNvPr id="35" name="Text 25">
            <a:extLst>
              <a:ext uri="{FF2B5EF4-FFF2-40B4-BE49-F238E27FC236}">
                <a16:creationId xmlns:a16="http://schemas.microsoft.com/office/drawing/2014/main" id="{7182E042-2863-07F1-A2CC-570F30DE37AD}"/>
              </a:ext>
            </a:extLst>
          </p:cNvPr>
          <p:cNvSpPr/>
          <p:nvPr/>
        </p:nvSpPr>
        <p:spPr>
          <a:xfrm>
            <a:off x="8458200" y="3346704"/>
            <a:ext cx="2926080" cy="228600"/>
          </a:xfrm>
          <a:prstGeom prst="rect">
            <a:avLst/>
          </a:prstGeom>
          <a:noFill/>
          <a:ln/>
        </p:spPr>
        <p:txBody>
          <a:bodyPr wrap="square" lIns="0" tIns="0" rIns="0" bIns="0" rtlCol="0" anchor="ctr"/>
          <a:lstStyle/>
          <a:p>
            <a:pPr marL="0" indent="0">
              <a:buNone/>
            </a:pPr>
            <a:r>
              <a:rPr lang="en-US" sz="1200" b="1" dirty="0">
                <a:solidFill>
                  <a:srgbClr val="1F2937"/>
                </a:solidFill>
              </a:rPr>
              <a:t>HIV deaths</a:t>
            </a:r>
            <a:endParaRPr lang="en-US" sz="1200" dirty="0"/>
          </a:p>
        </p:txBody>
      </p:sp>
      <p:sp>
        <p:nvSpPr>
          <p:cNvPr id="36" name="Text 26">
            <a:extLst>
              <a:ext uri="{FF2B5EF4-FFF2-40B4-BE49-F238E27FC236}">
                <a16:creationId xmlns:a16="http://schemas.microsoft.com/office/drawing/2014/main" id="{E4BB3786-883A-CD91-3216-AFA89EEBB8B2}"/>
              </a:ext>
            </a:extLst>
          </p:cNvPr>
          <p:cNvSpPr/>
          <p:nvPr/>
        </p:nvSpPr>
        <p:spPr>
          <a:xfrm>
            <a:off x="8458200" y="3639312"/>
            <a:ext cx="2834640" cy="411480"/>
          </a:xfrm>
          <a:prstGeom prst="rect">
            <a:avLst/>
          </a:prstGeom>
          <a:noFill/>
          <a:ln/>
        </p:spPr>
        <p:txBody>
          <a:bodyPr wrap="square" lIns="0" tIns="0" rIns="0" bIns="0" rtlCol="0" anchor="ctr"/>
          <a:lstStyle/>
          <a:p>
            <a:pPr marL="0" indent="0">
              <a:buNone/>
            </a:pPr>
            <a:r>
              <a:rPr lang="en-US" sz="2600" b="1" dirty="0">
                <a:solidFill>
                  <a:srgbClr val="C62828"/>
                </a:solidFill>
              </a:rPr>
              <a:t>523K</a:t>
            </a:r>
            <a:endParaRPr lang="en-US" sz="2600" dirty="0"/>
          </a:p>
        </p:txBody>
      </p:sp>
      <p:sp>
        <p:nvSpPr>
          <p:cNvPr id="37" name="Text 27">
            <a:extLst>
              <a:ext uri="{FF2B5EF4-FFF2-40B4-BE49-F238E27FC236}">
                <a16:creationId xmlns:a16="http://schemas.microsoft.com/office/drawing/2014/main" id="{7D8F20DE-AD88-CDDA-74CD-8B2C84676E43}"/>
              </a:ext>
            </a:extLst>
          </p:cNvPr>
          <p:cNvSpPr/>
          <p:nvPr/>
        </p:nvSpPr>
        <p:spPr>
          <a:xfrm>
            <a:off x="8458200" y="4160520"/>
            <a:ext cx="2743200" cy="228600"/>
          </a:xfrm>
          <a:prstGeom prst="rect">
            <a:avLst/>
          </a:prstGeom>
          <a:noFill/>
          <a:ln/>
        </p:spPr>
        <p:txBody>
          <a:bodyPr wrap="square" lIns="0" tIns="0" rIns="0" bIns="0" rtlCol="0" anchor="ctr"/>
          <a:lstStyle/>
          <a:p>
            <a:pPr marL="0" indent="0">
              <a:buNone/>
            </a:pPr>
            <a:r>
              <a:rPr lang="en-US" sz="1150" dirty="0">
                <a:solidFill>
                  <a:srgbClr val="C62828"/>
                </a:solidFill>
              </a:rPr>
              <a:t>+1.17% Vs PY</a:t>
            </a:r>
            <a:endParaRPr lang="en-US" sz="1150" dirty="0"/>
          </a:p>
        </p:txBody>
      </p:sp>
      <p:sp>
        <p:nvSpPr>
          <p:cNvPr id="38" name="Shape 28">
            <a:extLst>
              <a:ext uri="{FF2B5EF4-FFF2-40B4-BE49-F238E27FC236}">
                <a16:creationId xmlns:a16="http://schemas.microsoft.com/office/drawing/2014/main" id="{9BB1E1B6-9E1B-F62D-C290-2651C29EF6F4}"/>
              </a:ext>
            </a:extLst>
          </p:cNvPr>
          <p:cNvSpPr/>
          <p:nvPr/>
        </p:nvSpPr>
        <p:spPr>
          <a:xfrm>
            <a:off x="214472" y="4899125"/>
            <a:ext cx="10986927" cy="1186136"/>
          </a:xfrm>
          <a:prstGeom prst="roundRect">
            <a:avLst>
              <a:gd name="adj" fmla="val 10667"/>
            </a:avLst>
          </a:prstGeom>
          <a:solidFill>
            <a:srgbClr val="E6F4FA"/>
          </a:solidFill>
          <a:ln w="15240">
            <a:solidFill>
              <a:srgbClr val="B7DFF0"/>
            </a:solidFill>
            <a:prstDash val="solid"/>
          </a:ln>
        </p:spPr>
        <p:txBody>
          <a:bodyPr/>
          <a:lstStyle/>
          <a:p>
            <a:endParaRPr lang="en-GB"/>
          </a:p>
        </p:txBody>
      </p:sp>
      <p:sp>
        <p:nvSpPr>
          <p:cNvPr id="39" name="Text 29">
            <a:extLst>
              <a:ext uri="{FF2B5EF4-FFF2-40B4-BE49-F238E27FC236}">
                <a16:creationId xmlns:a16="http://schemas.microsoft.com/office/drawing/2014/main" id="{690ADDDF-8936-DA6E-EE34-ADDF7310F4AC}"/>
              </a:ext>
            </a:extLst>
          </p:cNvPr>
          <p:cNvSpPr/>
          <p:nvPr/>
        </p:nvSpPr>
        <p:spPr>
          <a:xfrm>
            <a:off x="902473" y="4977047"/>
            <a:ext cx="8499547" cy="392540"/>
          </a:xfrm>
          <a:prstGeom prst="rect">
            <a:avLst/>
          </a:prstGeom>
          <a:noFill/>
          <a:ln/>
        </p:spPr>
        <p:txBody>
          <a:bodyPr wrap="square" lIns="0" tIns="0" rIns="0" bIns="0" rtlCol="0" anchor="ctr"/>
          <a:lstStyle/>
          <a:p>
            <a:pPr marL="0" indent="0">
              <a:buNone/>
            </a:pPr>
            <a:r>
              <a:rPr lang="en-US" sz="1600" b="1" dirty="0">
                <a:solidFill>
                  <a:srgbClr val="1F2937"/>
                </a:solidFill>
                <a:latin typeface="Calibri" panose="020F0502020204030204" pitchFamily="34" charset="0"/>
                <a:ea typeface="Calibri" panose="020F0502020204030204" pitchFamily="34" charset="0"/>
                <a:cs typeface="Calibri" panose="020F0502020204030204" pitchFamily="34" charset="0"/>
              </a:rPr>
              <a:t>Interpretation</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0" name="Text 30">
            <a:extLst>
              <a:ext uri="{FF2B5EF4-FFF2-40B4-BE49-F238E27FC236}">
                <a16:creationId xmlns:a16="http://schemas.microsoft.com/office/drawing/2014/main" id="{9EEEF27B-39E2-3162-0F3A-EA96E1826091}"/>
              </a:ext>
            </a:extLst>
          </p:cNvPr>
          <p:cNvSpPr/>
          <p:nvPr/>
        </p:nvSpPr>
        <p:spPr>
          <a:xfrm>
            <a:off x="665623" y="5331477"/>
            <a:ext cx="8064909" cy="496034"/>
          </a:xfrm>
          <a:prstGeom prst="rect">
            <a:avLst/>
          </a:prstGeom>
          <a:noFill/>
          <a:ln/>
        </p:spPr>
        <p:txBody>
          <a:bodyPr wrap="square" lIns="254" tIns="254" rIns="254" bIns="254" rtlCol="0" anchor="ctr">
            <a:noAutofit/>
          </a:bodyPr>
          <a:lstStyle/>
          <a:p>
            <a:pPr marL="0" indent="0">
              <a:lnSpc>
                <a:spcPct val="150000"/>
              </a:lnSpc>
              <a:buNone/>
            </a:pPr>
            <a:r>
              <a:rPr lang="en-US" sz="1200" dirty="0">
                <a:solidFill>
                  <a:srgbClr val="111827"/>
                </a:solidFill>
                <a:latin typeface="Times New Roman" panose="02020603050405020304" pitchFamily="18" charset="0"/>
                <a:cs typeface="Times New Roman" panose="02020603050405020304" pitchFamily="18" charset="0"/>
              </a:rPr>
              <a:t>Survival remains very high, but the 2024 values still show a significant global burden, with nearly one million new infections and over half a million HIV-related deaths.</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45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10" name="Shape 1">
            <a:extLst>
              <a:ext uri="{FF2B5EF4-FFF2-40B4-BE49-F238E27FC236}">
                <a16:creationId xmlns:a16="http://schemas.microsoft.com/office/drawing/2014/main" id="{19461060-6534-C94F-774E-FF22078F7E45}"/>
              </a:ext>
            </a:extLst>
          </p:cNvPr>
          <p:cNvSpPr/>
          <p:nvPr/>
        </p:nvSpPr>
        <p:spPr>
          <a:xfrm>
            <a:off x="0" y="6693408"/>
            <a:ext cx="12191695" cy="164592"/>
          </a:xfrm>
          <a:prstGeom prst="rect">
            <a:avLst/>
          </a:prstGeom>
          <a:solidFill>
            <a:srgbClr val="1F2937"/>
          </a:solidFill>
          <a:ln w="12700">
            <a:solidFill>
              <a:srgbClr val="1F2937"/>
            </a:solidFill>
            <a:prstDash val="solid"/>
          </a:ln>
        </p:spPr>
        <p:txBody>
          <a:bodyPr/>
          <a:lstStyle/>
          <a:p>
            <a:endParaRPr lang="en-GB"/>
          </a:p>
        </p:txBody>
      </p:sp>
      <p:sp>
        <p:nvSpPr>
          <p:cNvPr id="11" name="Text 2">
            <a:extLst>
              <a:ext uri="{FF2B5EF4-FFF2-40B4-BE49-F238E27FC236}">
                <a16:creationId xmlns:a16="http://schemas.microsoft.com/office/drawing/2014/main" id="{ABB8EE9D-90FA-05F3-6EB6-ED25F4156212}"/>
              </a:ext>
            </a:extLst>
          </p:cNvPr>
          <p:cNvSpPr/>
          <p:nvPr/>
        </p:nvSpPr>
        <p:spPr>
          <a:xfrm>
            <a:off x="393192" y="157864"/>
            <a:ext cx="10789920" cy="411480"/>
          </a:xfrm>
          <a:prstGeom prst="rect">
            <a:avLst/>
          </a:prstGeom>
          <a:noFill/>
          <a:ln/>
        </p:spPr>
        <p:txBody>
          <a:bodyPr wrap="square" lIns="0" tIns="0" rIns="0" bIns="0" rtlCol="0" anchor="ctr"/>
          <a:lstStyle/>
          <a:p>
            <a:pPr marL="0" indent="0">
              <a:buNone/>
            </a:pPr>
            <a:r>
              <a:rPr lang="en-US" sz="3600" b="1" dirty="0">
                <a:latin typeface="Calibri" panose="020F0502020204030204" pitchFamily="34" charset="0"/>
                <a:ea typeface="Calibri" panose="020F0502020204030204" pitchFamily="34" charset="0"/>
                <a:cs typeface="Calibri" panose="020F0502020204030204" pitchFamily="34" charset="0"/>
              </a:rPr>
              <a:t>Key Insights</a:t>
            </a:r>
          </a:p>
        </p:txBody>
      </p:sp>
      <p:sp>
        <p:nvSpPr>
          <p:cNvPr id="13" name="Shape 4">
            <a:extLst>
              <a:ext uri="{FF2B5EF4-FFF2-40B4-BE49-F238E27FC236}">
                <a16:creationId xmlns:a16="http://schemas.microsoft.com/office/drawing/2014/main" id="{B3AB1A6D-3B55-CD87-0C7B-06B211941BF2}"/>
              </a:ext>
            </a:extLst>
          </p:cNvPr>
          <p:cNvSpPr/>
          <p:nvPr/>
        </p:nvSpPr>
        <p:spPr>
          <a:xfrm>
            <a:off x="428575" y="708661"/>
            <a:ext cx="4901582" cy="4299836"/>
          </a:xfrm>
          <a:prstGeom prst="roundRect">
            <a:avLst>
              <a:gd name="adj" fmla="val 1649"/>
            </a:avLst>
          </a:prstGeom>
          <a:solidFill>
            <a:srgbClr val="E6F4FA"/>
          </a:solidFill>
          <a:ln w="15240">
            <a:solidFill>
              <a:srgbClr val="B7DFF0"/>
            </a:solidFill>
            <a:prstDash val="solid"/>
          </a:ln>
        </p:spPr>
        <p:txBody>
          <a:bodyPr/>
          <a:lstStyle/>
          <a:p>
            <a:endParaRPr lang="en-GB" dirty="0"/>
          </a:p>
        </p:txBody>
      </p:sp>
      <p:sp>
        <p:nvSpPr>
          <p:cNvPr id="14" name="Text 5">
            <a:extLst>
              <a:ext uri="{FF2B5EF4-FFF2-40B4-BE49-F238E27FC236}">
                <a16:creationId xmlns:a16="http://schemas.microsoft.com/office/drawing/2014/main" id="{9C59E904-FC7D-675A-8D28-F3BBAE4FDC1F}"/>
              </a:ext>
            </a:extLst>
          </p:cNvPr>
          <p:cNvSpPr/>
          <p:nvPr/>
        </p:nvSpPr>
        <p:spPr>
          <a:xfrm>
            <a:off x="393192" y="857380"/>
            <a:ext cx="4907545" cy="320040"/>
          </a:xfrm>
          <a:prstGeom prst="rect">
            <a:avLst/>
          </a:prstGeom>
          <a:noFill/>
          <a:ln/>
        </p:spPr>
        <p:txBody>
          <a:bodyPr wrap="square" lIns="0" tIns="0" rIns="0" bIns="0" rtlCol="0" anchor="ctr"/>
          <a:lstStyle/>
          <a:p>
            <a:pPr marL="0" indent="0" algn="ctr">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Selected-country mortality insights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6">
            <a:extLst>
              <a:ext uri="{FF2B5EF4-FFF2-40B4-BE49-F238E27FC236}">
                <a16:creationId xmlns:a16="http://schemas.microsoft.com/office/drawing/2014/main" id="{01EAA401-A8D4-8487-D6F1-D94098A32731}"/>
              </a:ext>
            </a:extLst>
          </p:cNvPr>
          <p:cNvSpPr/>
          <p:nvPr/>
        </p:nvSpPr>
        <p:spPr>
          <a:xfrm>
            <a:off x="597938" y="1341882"/>
            <a:ext cx="4562856" cy="2471166"/>
          </a:xfrm>
          <a:prstGeom prst="rect">
            <a:avLst/>
          </a:prstGeom>
          <a:noFill/>
          <a:ln/>
        </p:spPr>
        <p:txBody>
          <a:bodyPr wrap="square" lIns="254" tIns="254" rIns="254" bIns="254" rtlCol="0" anchor="ctr">
            <a:normAutofit/>
          </a:bodyPr>
          <a:lstStyle/>
          <a:p>
            <a:pPr>
              <a:lnSpc>
                <a:spcPct val="150000"/>
              </a:lnSpc>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The top four countries recorded mortality rates of 100.00%.</a:t>
            </a:r>
          </a:p>
          <a:p>
            <a:pPr>
              <a:lnSpc>
                <a:spcPct val="150000"/>
              </a:lnSpc>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This may reflect small HIV population values, missing records or cases where reported deaths equal recorded people living with HIV.</a:t>
            </a:r>
          </a:p>
          <a:p>
            <a:pPr>
              <a:lnSpc>
                <a:spcPct val="150000"/>
              </a:lnSpc>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Across all countries, mortality rate ranged from 26.32% to 100.00%.</a:t>
            </a:r>
          </a:p>
        </p:txBody>
      </p:sp>
      <p:sp>
        <p:nvSpPr>
          <p:cNvPr id="16" name="Shape 7">
            <a:extLst>
              <a:ext uri="{FF2B5EF4-FFF2-40B4-BE49-F238E27FC236}">
                <a16:creationId xmlns:a16="http://schemas.microsoft.com/office/drawing/2014/main" id="{B12D932F-86EC-9A4D-2A8A-6F794222ED52}"/>
              </a:ext>
            </a:extLst>
          </p:cNvPr>
          <p:cNvSpPr/>
          <p:nvPr/>
        </p:nvSpPr>
        <p:spPr>
          <a:xfrm>
            <a:off x="5772913" y="708660"/>
            <a:ext cx="5166360" cy="2388870"/>
          </a:xfrm>
          <a:prstGeom prst="roundRect">
            <a:avLst>
              <a:gd name="adj" fmla="val 3556"/>
            </a:avLst>
          </a:prstGeom>
          <a:solidFill>
            <a:srgbClr val="E6F4FA"/>
          </a:solidFill>
          <a:ln w="15240">
            <a:solidFill>
              <a:srgbClr val="B7DFF0"/>
            </a:solidFill>
            <a:prstDash val="solid"/>
          </a:ln>
        </p:spPr>
        <p:txBody>
          <a:bodyPr/>
          <a:lstStyle/>
          <a:p>
            <a:endParaRPr lang="en-GB" dirty="0"/>
          </a:p>
        </p:txBody>
      </p:sp>
      <p:sp>
        <p:nvSpPr>
          <p:cNvPr id="17" name="Text 8">
            <a:extLst>
              <a:ext uri="{FF2B5EF4-FFF2-40B4-BE49-F238E27FC236}">
                <a16:creationId xmlns:a16="http://schemas.microsoft.com/office/drawing/2014/main" id="{4BD72468-2B0C-6E94-1C99-DD7F603F3317}"/>
              </a:ext>
            </a:extLst>
          </p:cNvPr>
          <p:cNvSpPr/>
          <p:nvPr/>
        </p:nvSpPr>
        <p:spPr>
          <a:xfrm>
            <a:off x="5989717" y="856355"/>
            <a:ext cx="4764024" cy="320040"/>
          </a:xfrm>
          <a:prstGeom prst="rect">
            <a:avLst/>
          </a:prstGeom>
          <a:noFill/>
          <a:ln/>
        </p:spPr>
        <p:txBody>
          <a:bodyPr wrap="square" lIns="0" tIns="0" rIns="0" bIns="0" rtlCol="0" anchor="ctr"/>
          <a:lstStyle/>
          <a:p>
            <a:pPr marL="0" indent="0">
              <a:buNone/>
            </a:pPr>
            <a:r>
              <a:rPr lang="en-US" sz="1400" b="1" dirty="0">
                <a:solidFill>
                  <a:srgbClr val="1F2937"/>
                </a:solidFill>
              </a:rPr>
              <a:t>Trend Insight</a:t>
            </a:r>
            <a:endParaRPr lang="en-US" sz="1400" dirty="0"/>
          </a:p>
        </p:txBody>
      </p:sp>
      <p:sp>
        <p:nvSpPr>
          <p:cNvPr id="18" name="Text 9">
            <a:extLst>
              <a:ext uri="{FF2B5EF4-FFF2-40B4-BE49-F238E27FC236}">
                <a16:creationId xmlns:a16="http://schemas.microsoft.com/office/drawing/2014/main" id="{196FC567-BF15-8D32-7573-387F212075D8}"/>
              </a:ext>
            </a:extLst>
          </p:cNvPr>
          <p:cNvSpPr/>
          <p:nvPr/>
        </p:nvSpPr>
        <p:spPr>
          <a:xfrm>
            <a:off x="5974081" y="1286123"/>
            <a:ext cx="4764024" cy="1672091"/>
          </a:xfrm>
          <a:prstGeom prst="rect">
            <a:avLst/>
          </a:prstGeom>
          <a:noFill/>
          <a:ln/>
        </p:spPr>
        <p:txBody>
          <a:bodyPr wrap="square" lIns="254" tIns="254" rIns="254" bIns="254" rtlCol="0" anchor="ctr">
            <a:noAutofit/>
          </a:bodyPr>
          <a:lstStyle/>
          <a:p>
            <a:pPr>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Total new infections decreased by 59.02% between 2000 and 2024.</a:t>
            </a:r>
          </a:p>
          <a:p>
            <a:pPr>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Total HIV deaths decreased by 65.50% over the same period.</a:t>
            </a:r>
          </a:p>
          <a:p>
            <a:pPr>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New infections began a stronger downward trend from 2015, falling by 479,090 cases over nine years.</a:t>
            </a:r>
          </a:p>
          <a:p>
            <a:pPr>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HIV deaths had their steepest decline between 2009 and 2012, dropping from 1,174,630 to 926,320.</a:t>
            </a:r>
          </a:p>
        </p:txBody>
      </p:sp>
      <p:sp>
        <p:nvSpPr>
          <p:cNvPr id="19" name="Shape 10">
            <a:extLst>
              <a:ext uri="{FF2B5EF4-FFF2-40B4-BE49-F238E27FC236}">
                <a16:creationId xmlns:a16="http://schemas.microsoft.com/office/drawing/2014/main" id="{207B2751-67D4-A49B-91E8-77F7F0797CD0}"/>
              </a:ext>
            </a:extLst>
          </p:cNvPr>
          <p:cNvSpPr/>
          <p:nvPr/>
        </p:nvSpPr>
        <p:spPr>
          <a:xfrm>
            <a:off x="5772913" y="3207259"/>
            <a:ext cx="5166360" cy="1771650"/>
          </a:xfrm>
          <a:prstGeom prst="roundRect">
            <a:avLst>
              <a:gd name="adj" fmla="val 3478"/>
            </a:avLst>
          </a:prstGeom>
          <a:solidFill>
            <a:srgbClr val="E6F4FA"/>
          </a:solidFill>
          <a:ln w="15240">
            <a:solidFill>
              <a:srgbClr val="B7DFF0"/>
            </a:solidFill>
            <a:prstDash val="solid"/>
          </a:ln>
        </p:spPr>
        <p:txBody>
          <a:bodyPr/>
          <a:lstStyle/>
          <a:p>
            <a:endParaRPr lang="en-GB"/>
          </a:p>
        </p:txBody>
      </p:sp>
      <p:sp>
        <p:nvSpPr>
          <p:cNvPr id="20" name="Text 11">
            <a:extLst>
              <a:ext uri="{FF2B5EF4-FFF2-40B4-BE49-F238E27FC236}">
                <a16:creationId xmlns:a16="http://schemas.microsoft.com/office/drawing/2014/main" id="{3FA07554-4BA9-34F5-6BB9-96C0C5493525}"/>
              </a:ext>
            </a:extLst>
          </p:cNvPr>
          <p:cNvSpPr/>
          <p:nvPr/>
        </p:nvSpPr>
        <p:spPr>
          <a:xfrm>
            <a:off x="5886350" y="3097530"/>
            <a:ext cx="4764024" cy="569344"/>
          </a:xfrm>
          <a:prstGeom prst="rect">
            <a:avLst/>
          </a:prstGeom>
          <a:noFill/>
          <a:ln/>
        </p:spPr>
        <p:txBody>
          <a:bodyPr wrap="square" lIns="0" tIns="0" rIns="0" bIns="0" rtlCol="0" anchor="ctr"/>
          <a:lstStyle/>
          <a:p>
            <a:pPr marL="0" indent="0">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Burden concentration</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2">
            <a:extLst>
              <a:ext uri="{FF2B5EF4-FFF2-40B4-BE49-F238E27FC236}">
                <a16:creationId xmlns:a16="http://schemas.microsoft.com/office/drawing/2014/main" id="{B34405F8-D335-ABD7-1C88-6D5C7BBF046D}"/>
              </a:ext>
            </a:extLst>
          </p:cNvPr>
          <p:cNvSpPr/>
          <p:nvPr/>
        </p:nvSpPr>
        <p:spPr>
          <a:xfrm>
            <a:off x="5901987" y="3245225"/>
            <a:ext cx="4851754" cy="1377329"/>
          </a:xfrm>
          <a:prstGeom prst="rect">
            <a:avLst/>
          </a:prstGeom>
          <a:noFill/>
          <a:ln/>
        </p:spPr>
        <p:txBody>
          <a:bodyPr wrap="square" lIns="254" tIns="254" rIns="254" bIns="254" rtlCol="0" anchor="ctr">
            <a:normAutofit/>
          </a:bodyPr>
          <a:lstStyle/>
          <a:p>
            <a:pPr>
              <a:lnSpc>
                <a:spcPct val="150000"/>
              </a:lnSpc>
              <a:spcAft>
                <a:spcPts val="400"/>
              </a:spcAft>
              <a:defRPr sz="1500">
                <a:solidFill>
                  <a:srgbClr val="111827"/>
                </a:solidFill>
                <a:latin typeface="Aptos"/>
              </a:defRPr>
            </a:pPr>
            <a:r>
              <a:rPr lang="en-US" sz="1400" dirty="0">
                <a:latin typeface="Times New Roman" panose="02020603050405020304" pitchFamily="18" charset="0"/>
                <a:cs typeface="Times New Roman" panose="02020603050405020304" pitchFamily="18" charset="0"/>
              </a:rPr>
              <a:t>South Africa accounted for 33.50% of total people living with HIV, making it the largest contributor to burden in this analysis.</a:t>
            </a:r>
          </a:p>
        </p:txBody>
      </p:sp>
    </p:spTree>
    <p:extLst>
      <p:ext uri="{BB962C8B-B14F-4D97-AF65-F5344CB8AC3E}">
        <p14:creationId xmlns:p14="http://schemas.microsoft.com/office/powerpoint/2010/main" val="661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a:xfrm>
          <a:off x="0" y="0"/>
          <a:ext cx="0" cy="0"/>
          <a:chOff x="0" y="0"/>
          <a:chExt cx="0" cy="0"/>
        </a:xfrm>
      </p:grpSpPr>
      <p:sp>
        <p:nvSpPr>
          <p:cNvPr id="11" name="Text 2">
            <a:extLst>
              <a:ext uri="{FF2B5EF4-FFF2-40B4-BE49-F238E27FC236}">
                <a16:creationId xmlns:a16="http://schemas.microsoft.com/office/drawing/2014/main" id="{CAD52A42-7657-3C7F-745D-D4E41D3AACFA}"/>
              </a:ext>
            </a:extLst>
          </p:cNvPr>
          <p:cNvSpPr/>
          <p:nvPr/>
        </p:nvSpPr>
        <p:spPr>
          <a:xfrm>
            <a:off x="288236" y="192024"/>
            <a:ext cx="10789920" cy="411480"/>
          </a:xfrm>
          <a:prstGeom prst="rect">
            <a:avLst/>
          </a:prstGeom>
          <a:noFill/>
          <a:ln/>
        </p:spPr>
        <p:txBody>
          <a:bodyPr wrap="square" lIns="0" tIns="0" rIns="0" bIns="0" rtlCol="0" anchor="ctr"/>
          <a:lstStyle/>
          <a:p>
            <a:pPr marL="0" indent="0">
              <a:buNone/>
            </a:pPr>
            <a:r>
              <a:rPr lang="en-US" sz="3200" b="1" dirty="0">
                <a:latin typeface="Calibri" panose="020F0502020204030204" pitchFamily="34" charset="0"/>
                <a:ea typeface="Calibri" panose="020F0502020204030204" pitchFamily="34" charset="0"/>
                <a:cs typeface="Calibri" panose="020F0502020204030204" pitchFamily="34" charset="0"/>
              </a:rPr>
              <a:t>Trend Analysis</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3">
            <a:extLst>
              <a:ext uri="{FF2B5EF4-FFF2-40B4-BE49-F238E27FC236}">
                <a16:creationId xmlns:a16="http://schemas.microsoft.com/office/drawing/2014/main" id="{2CF6FE33-14F7-BCF5-FF51-4735D2871587}"/>
              </a:ext>
            </a:extLst>
          </p:cNvPr>
          <p:cNvSpPr/>
          <p:nvPr/>
        </p:nvSpPr>
        <p:spPr>
          <a:xfrm>
            <a:off x="288236" y="804672"/>
            <a:ext cx="10515600" cy="274320"/>
          </a:xfrm>
          <a:prstGeom prst="rect">
            <a:avLst/>
          </a:prstGeom>
          <a:noFill/>
          <a:ln/>
        </p:spPr>
        <p:txBody>
          <a:bodyPr wrap="square" lIns="0" tIns="0" rIns="0" bIns="0" rtlCol="0" anchor="ctr"/>
          <a:lstStyle/>
          <a:p>
            <a:pPr marL="0" indent="0">
              <a:buNone/>
            </a:pPr>
            <a:r>
              <a:rPr lang="en-US" sz="1400" dirty="0">
                <a:latin typeface="Times New Roman" panose="02020603050405020304" pitchFamily="18" charset="0"/>
                <a:cs typeface="Times New Roman" panose="02020603050405020304" pitchFamily="18" charset="0"/>
              </a:rPr>
              <a:t>How HIV infections compare with deaths over time</a:t>
            </a:r>
          </a:p>
        </p:txBody>
      </p:sp>
      <p:sp>
        <p:nvSpPr>
          <p:cNvPr id="14" name="Shape 4">
            <a:extLst>
              <a:ext uri="{FF2B5EF4-FFF2-40B4-BE49-F238E27FC236}">
                <a16:creationId xmlns:a16="http://schemas.microsoft.com/office/drawing/2014/main" id="{53A3A254-89E2-A562-7FE6-2A992BF05399}"/>
              </a:ext>
            </a:extLst>
          </p:cNvPr>
          <p:cNvSpPr/>
          <p:nvPr/>
        </p:nvSpPr>
        <p:spPr>
          <a:xfrm>
            <a:off x="5897880" y="1348740"/>
            <a:ext cx="5394960" cy="1234440"/>
          </a:xfrm>
          <a:prstGeom prst="roundRect">
            <a:avLst>
              <a:gd name="adj" fmla="val 5926"/>
            </a:avLst>
          </a:prstGeom>
          <a:solidFill>
            <a:srgbClr val="E6F4FA"/>
          </a:solidFill>
          <a:ln w="15240">
            <a:solidFill>
              <a:srgbClr val="B7DFF0"/>
            </a:solidFill>
            <a:prstDash val="solid"/>
          </a:ln>
        </p:spPr>
        <p:txBody>
          <a:bodyPr/>
          <a:lstStyle/>
          <a:p>
            <a:endParaRPr lang="en-GB"/>
          </a:p>
        </p:txBody>
      </p:sp>
      <p:sp>
        <p:nvSpPr>
          <p:cNvPr id="15" name="Text 5">
            <a:extLst>
              <a:ext uri="{FF2B5EF4-FFF2-40B4-BE49-F238E27FC236}">
                <a16:creationId xmlns:a16="http://schemas.microsoft.com/office/drawing/2014/main" id="{3D78670C-30DA-8E0B-DC49-5AD5FEC34322}"/>
              </a:ext>
            </a:extLst>
          </p:cNvPr>
          <p:cNvSpPr/>
          <p:nvPr/>
        </p:nvSpPr>
        <p:spPr>
          <a:xfrm>
            <a:off x="6190488" y="1353312"/>
            <a:ext cx="4992624" cy="256032"/>
          </a:xfrm>
          <a:prstGeom prst="rect">
            <a:avLst/>
          </a:prstGeom>
          <a:noFill/>
          <a:ln/>
        </p:spPr>
        <p:txBody>
          <a:bodyPr wrap="square" lIns="0" tIns="0" rIns="0" bIns="0" rtlCol="0" anchor="ctr"/>
          <a:lstStyle/>
          <a:p>
            <a:pPr marL="0" indent="0">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Main Trend</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6">
            <a:extLst>
              <a:ext uri="{FF2B5EF4-FFF2-40B4-BE49-F238E27FC236}">
                <a16:creationId xmlns:a16="http://schemas.microsoft.com/office/drawing/2014/main" id="{47E61FC1-388D-9F6A-A4AD-9D26B687150D}"/>
              </a:ext>
            </a:extLst>
          </p:cNvPr>
          <p:cNvSpPr/>
          <p:nvPr/>
        </p:nvSpPr>
        <p:spPr>
          <a:xfrm>
            <a:off x="6190488" y="1810512"/>
            <a:ext cx="5102352" cy="566928"/>
          </a:xfrm>
          <a:prstGeom prst="rect">
            <a:avLst/>
          </a:prstGeom>
          <a:noFill/>
          <a:ln/>
        </p:spPr>
        <p:txBody>
          <a:bodyPr wrap="square" lIns="254" tIns="254" rIns="254" bIns="254" rtlCol="0" anchor="ctr">
            <a:noAutofit/>
          </a:bodyPr>
          <a:lstStyle/>
          <a:p>
            <a:pPr marL="0" indent="0">
              <a:buNone/>
            </a:pPr>
            <a:r>
              <a:rPr lang="en-US" sz="1400" dirty="0">
                <a:solidFill>
                  <a:srgbClr val="111827"/>
                </a:solidFill>
                <a:latin typeface="Times New Roman" panose="02020603050405020304" pitchFamily="18" charset="0"/>
                <a:cs typeface="Times New Roman" panose="02020603050405020304" pitchFamily="18" charset="0"/>
              </a:rPr>
              <a:t>HIV deaths and new infections generally declined over time, suggesting progress in prevention, treatment access and global HIV response.</a:t>
            </a:r>
            <a:endParaRPr lang="en-US" sz="1400" dirty="0">
              <a:latin typeface="Times New Roman" panose="02020603050405020304" pitchFamily="18" charset="0"/>
              <a:cs typeface="Times New Roman" panose="02020603050405020304" pitchFamily="18" charset="0"/>
            </a:endParaRPr>
          </a:p>
        </p:txBody>
      </p:sp>
      <p:sp>
        <p:nvSpPr>
          <p:cNvPr id="17" name="Shape 7">
            <a:extLst>
              <a:ext uri="{FF2B5EF4-FFF2-40B4-BE49-F238E27FC236}">
                <a16:creationId xmlns:a16="http://schemas.microsoft.com/office/drawing/2014/main" id="{0E53CE3C-37BA-1E70-778E-169E34F980AD}"/>
              </a:ext>
            </a:extLst>
          </p:cNvPr>
          <p:cNvSpPr/>
          <p:nvPr/>
        </p:nvSpPr>
        <p:spPr>
          <a:xfrm>
            <a:off x="5989320" y="2795778"/>
            <a:ext cx="5394960" cy="1234440"/>
          </a:xfrm>
          <a:prstGeom prst="roundRect">
            <a:avLst>
              <a:gd name="adj" fmla="val 5926"/>
            </a:avLst>
          </a:prstGeom>
          <a:solidFill>
            <a:srgbClr val="E6F4FA"/>
          </a:solidFill>
          <a:ln w="15240">
            <a:solidFill>
              <a:srgbClr val="B7DFF0"/>
            </a:solidFill>
            <a:prstDash val="solid"/>
          </a:ln>
        </p:spPr>
        <p:txBody>
          <a:bodyPr/>
          <a:lstStyle/>
          <a:p>
            <a:endParaRPr lang="en-GB" dirty="0"/>
          </a:p>
        </p:txBody>
      </p:sp>
      <p:sp>
        <p:nvSpPr>
          <p:cNvPr id="18" name="Text 8">
            <a:extLst>
              <a:ext uri="{FF2B5EF4-FFF2-40B4-BE49-F238E27FC236}">
                <a16:creationId xmlns:a16="http://schemas.microsoft.com/office/drawing/2014/main" id="{0483734B-BF0A-7FB2-28F2-46495EC186DC}"/>
              </a:ext>
            </a:extLst>
          </p:cNvPr>
          <p:cNvSpPr/>
          <p:nvPr/>
        </p:nvSpPr>
        <p:spPr>
          <a:xfrm>
            <a:off x="6190488" y="2953512"/>
            <a:ext cx="4992624" cy="320040"/>
          </a:xfrm>
          <a:prstGeom prst="rect">
            <a:avLst/>
          </a:prstGeom>
          <a:noFill/>
          <a:ln/>
        </p:spPr>
        <p:txBody>
          <a:bodyPr wrap="square" lIns="0" tIns="0" rIns="0" bIns="0" rtlCol="0" anchor="ctr"/>
          <a:lstStyle/>
          <a:p>
            <a:pPr marL="0" indent="0">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Data quality note</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9">
            <a:extLst>
              <a:ext uri="{FF2B5EF4-FFF2-40B4-BE49-F238E27FC236}">
                <a16:creationId xmlns:a16="http://schemas.microsoft.com/office/drawing/2014/main" id="{A965A233-1EBF-C381-BE93-E24B7652D088}"/>
              </a:ext>
            </a:extLst>
          </p:cNvPr>
          <p:cNvSpPr/>
          <p:nvPr/>
        </p:nvSpPr>
        <p:spPr>
          <a:xfrm>
            <a:off x="6190488" y="3383280"/>
            <a:ext cx="4992624" cy="502920"/>
          </a:xfrm>
          <a:prstGeom prst="rect">
            <a:avLst/>
          </a:prstGeom>
          <a:noFill/>
          <a:ln/>
        </p:spPr>
        <p:txBody>
          <a:bodyPr wrap="square" lIns="254" tIns="254" rIns="254" bIns="254" rtlCol="0" anchor="ctr">
            <a:normAutofit/>
          </a:bodyPr>
          <a:lstStyle/>
          <a:p>
            <a:pPr marL="0" indent="0">
              <a:buNone/>
            </a:pPr>
            <a:r>
              <a:rPr lang="en-US" sz="1400" dirty="0">
                <a:solidFill>
                  <a:srgbClr val="111827"/>
                </a:solidFill>
                <a:latin typeface="Times New Roman" panose="02020603050405020304" pitchFamily="18" charset="0"/>
                <a:cs typeface="Times New Roman" panose="02020603050405020304" pitchFamily="18" charset="0"/>
              </a:rPr>
              <a:t>Some years have missing new infection values, so isolated points appear rather than a fully continuous line.</a:t>
            </a:r>
            <a:endParaRPr lang="en-US" sz="1400" dirty="0">
              <a:latin typeface="Times New Roman" panose="02020603050405020304" pitchFamily="18" charset="0"/>
              <a:cs typeface="Times New Roman" panose="02020603050405020304" pitchFamily="18" charset="0"/>
            </a:endParaRPr>
          </a:p>
        </p:txBody>
      </p:sp>
      <p:sp>
        <p:nvSpPr>
          <p:cNvPr id="20" name="Shape 10">
            <a:extLst>
              <a:ext uri="{FF2B5EF4-FFF2-40B4-BE49-F238E27FC236}">
                <a16:creationId xmlns:a16="http://schemas.microsoft.com/office/drawing/2014/main" id="{C3BF404A-A0D6-B6FE-5E82-738C1015B539}"/>
              </a:ext>
            </a:extLst>
          </p:cNvPr>
          <p:cNvSpPr/>
          <p:nvPr/>
        </p:nvSpPr>
        <p:spPr>
          <a:xfrm>
            <a:off x="5989320" y="4187952"/>
            <a:ext cx="5394960" cy="1234800"/>
          </a:xfrm>
          <a:prstGeom prst="roundRect">
            <a:avLst>
              <a:gd name="adj" fmla="val 6667"/>
            </a:avLst>
          </a:prstGeom>
          <a:solidFill>
            <a:srgbClr val="E6F4FA"/>
          </a:solidFill>
          <a:ln w="15240">
            <a:solidFill>
              <a:srgbClr val="B7DFF0"/>
            </a:solidFill>
            <a:prstDash val="solid"/>
          </a:ln>
        </p:spPr>
        <p:txBody>
          <a:bodyPr/>
          <a:lstStyle/>
          <a:p>
            <a:endParaRPr lang="en-GB" dirty="0"/>
          </a:p>
        </p:txBody>
      </p:sp>
      <p:sp>
        <p:nvSpPr>
          <p:cNvPr id="21" name="Text 11">
            <a:extLst>
              <a:ext uri="{FF2B5EF4-FFF2-40B4-BE49-F238E27FC236}">
                <a16:creationId xmlns:a16="http://schemas.microsoft.com/office/drawing/2014/main" id="{5A6C04CF-F240-E4A3-9917-4A0EA7F87C20}"/>
              </a:ext>
            </a:extLst>
          </p:cNvPr>
          <p:cNvSpPr/>
          <p:nvPr/>
        </p:nvSpPr>
        <p:spPr>
          <a:xfrm>
            <a:off x="6190488" y="4462272"/>
            <a:ext cx="4992624" cy="320040"/>
          </a:xfrm>
          <a:prstGeom prst="rect">
            <a:avLst/>
          </a:prstGeom>
          <a:noFill/>
          <a:ln/>
        </p:spPr>
        <p:txBody>
          <a:bodyPr wrap="square" lIns="0" tIns="0" rIns="0" bIns="0" rtlCol="0" anchor="ctr"/>
          <a:lstStyle/>
          <a:p>
            <a:pPr marL="0" indent="0">
              <a:buNone/>
            </a:pPr>
            <a:r>
              <a:rPr lang="en-US" sz="1400" b="1" dirty="0">
                <a:solidFill>
                  <a:srgbClr val="1F2937"/>
                </a:solidFill>
              </a:rPr>
              <a:t>Insight value</a:t>
            </a:r>
            <a:endParaRPr lang="en-US" sz="1400" dirty="0"/>
          </a:p>
        </p:txBody>
      </p:sp>
      <p:sp>
        <p:nvSpPr>
          <p:cNvPr id="22" name="Text 12">
            <a:extLst>
              <a:ext uri="{FF2B5EF4-FFF2-40B4-BE49-F238E27FC236}">
                <a16:creationId xmlns:a16="http://schemas.microsoft.com/office/drawing/2014/main" id="{19E91865-BDD3-D787-C749-644C4BB0D0A7}"/>
              </a:ext>
            </a:extLst>
          </p:cNvPr>
          <p:cNvSpPr/>
          <p:nvPr/>
        </p:nvSpPr>
        <p:spPr>
          <a:xfrm>
            <a:off x="6190488" y="4892040"/>
            <a:ext cx="4992624" cy="365760"/>
          </a:xfrm>
          <a:prstGeom prst="rect">
            <a:avLst/>
          </a:prstGeom>
          <a:noFill/>
          <a:ln/>
        </p:spPr>
        <p:txBody>
          <a:bodyPr wrap="square" lIns="254" tIns="254" rIns="254" bIns="254" rtlCol="0" anchor="ctr">
            <a:normAutofit fontScale="85000" lnSpcReduction="20000"/>
          </a:bodyPr>
          <a:lstStyle/>
          <a:p>
            <a:pPr marL="0" indent="0">
              <a:buNone/>
            </a:pPr>
            <a:r>
              <a:rPr lang="en-US" sz="1700" dirty="0">
                <a:solidFill>
                  <a:srgbClr val="111827"/>
                </a:solidFill>
                <a:latin typeface="Times New Roman" panose="02020603050405020304" pitchFamily="18" charset="0"/>
                <a:cs typeface="Times New Roman" panose="02020603050405020304" pitchFamily="18" charset="0"/>
              </a:rPr>
              <a:t>This visual helps compare the pace of change in infection spread and mortality impact over time.</a:t>
            </a:r>
            <a:endParaRPr lang="en-US" sz="1700" dirty="0">
              <a:latin typeface="Times New Roman" panose="02020603050405020304" pitchFamily="18" charset="0"/>
              <a:cs typeface="Times New Roman" panose="02020603050405020304" pitchFamily="18" charset="0"/>
            </a:endParaRPr>
          </a:p>
        </p:txBody>
      </p:sp>
      <p:pic>
        <p:nvPicPr>
          <p:cNvPr id="26" name="Picture 25" descr="The graph illustrates the trend of HIV infections and deaths from 2000 to 2020, showing fluctuations in the number of new infections and deaths over time.&#10;&#10;AI-generated content may be incorrect.">
            <a:extLst>
              <a:ext uri="{FF2B5EF4-FFF2-40B4-BE49-F238E27FC236}">
                <a16:creationId xmlns:a16="http://schemas.microsoft.com/office/drawing/2014/main" id="{DDCA29D0-46D7-55D8-88B7-97525D20698F}"/>
              </a:ext>
            </a:extLst>
          </p:cNvPr>
          <p:cNvPicPr>
            <a:picLocks noChangeAspect="1"/>
          </p:cNvPicPr>
          <p:nvPr/>
        </p:nvPicPr>
        <p:blipFill>
          <a:blip r:embed="rId2"/>
          <a:stretch>
            <a:fillRect/>
          </a:stretch>
        </p:blipFill>
        <p:spPr>
          <a:xfrm>
            <a:off x="288236" y="1280160"/>
            <a:ext cx="5170998" cy="4114800"/>
          </a:xfrm>
          <a:prstGeom prst="rect">
            <a:avLst/>
          </a:prstGeom>
        </p:spPr>
      </p:pic>
    </p:spTree>
    <p:extLst>
      <p:ext uri="{BB962C8B-B14F-4D97-AF65-F5344CB8AC3E}">
        <p14:creationId xmlns:p14="http://schemas.microsoft.com/office/powerpoint/2010/main" val="186486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
            <a:extLst>
              <a:ext uri="{FF2B5EF4-FFF2-40B4-BE49-F238E27FC236}">
                <a16:creationId xmlns:a16="http://schemas.microsoft.com/office/drawing/2014/main" id="{A099DE3B-EC43-E839-AE54-15E4CD49B4AD}"/>
              </a:ext>
            </a:extLst>
          </p:cNvPr>
          <p:cNvSpPr/>
          <p:nvPr/>
        </p:nvSpPr>
        <p:spPr>
          <a:xfrm>
            <a:off x="-40291" y="6693408"/>
            <a:ext cx="12191695" cy="164592"/>
          </a:xfrm>
          <a:prstGeom prst="rect">
            <a:avLst/>
          </a:prstGeom>
          <a:solidFill>
            <a:srgbClr val="1F2937"/>
          </a:solidFill>
          <a:ln w="12700">
            <a:solidFill>
              <a:srgbClr val="1F2937"/>
            </a:solidFill>
            <a:prstDash val="solid"/>
          </a:ln>
        </p:spPr>
        <p:txBody>
          <a:bodyPr/>
          <a:lstStyle/>
          <a:p>
            <a:endParaRPr lang="en-GB"/>
          </a:p>
        </p:txBody>
      </p:sp>
      <p:sp>
        <p:nvSpPr>
          <p:cNvPr id="25" name="Text 2">
            <a:extLst>
              <a:ext uri="{FF2B5EF4-FFF2-40B4-BE49-F238E27FC236}">
                <a16:creationId xmlns:a16="http://schemas.microsoft.com/office/drawing/2014/main" id="{3718F896-832A-5243-AF8B-5A452A71B238}"/>
              </a:ext>
            </a:extLst>
          </p:cNvPr>
          <p:cNvSpPr/>
          <p:nvPr/>
        </p:nvSpPr>
        <p:spPr>
          <a:xfrm>
            <a:off x="308610" y="73152"/>
            <a:ext cx="10789920" cy="411480"/>
          </a:xfrm>
          <a:prstGeom prst="rect">
            <a:avLst/>
          </a:prstGeom>
          <a:noFill/>
          <a:ln/>
        </p:spPr>
        <p:txBody>
          <a:bodyPr wrap="square" lIns="0" tIns="0" rIns="0" bIns="0" rtlCol="0" anchor="ctr"/>
          <a:lstStyle/>
          <a:p>
            <a:pPr marL="0" indent="0">
              <a:buNone/>
            </a:pPr>
            <a:r>
              <a:rPr lang="en-US" sz="3600" b="1" dirty="0">
                <a:latin typeface="Calibri" panose="020F0502020204030204" pitchFamily="34" charset="0"/>
                <a:ea typeface="Calibri" panose="020F0502020204030204" pitchFamily="34" charset="0"/>
                <a:cs typeface="Calibri" panose="020F0502020204030204" pitchFamily="34" charset="0"/>
              </a:rPr>
              <a:t>Country &amp; Treatment Analysis(2024)</a:t>
            </a:r>
          </a:p>
        </p:txBody>
      </p:sp>
      <p:sp>
        <p:nvSpPr>
          <p:cNvPr id="26" name="Text 3">
            <a:extLst>
              <a:ext uri="{FF2B5EF4-FFF2-40B4-BE49-F238E27FC236}">
                <a16:creationId xmlns:a16="http://schemas.microsoft.com/office/drawing/2014/main" id="{DB2B66EA-9A2E-1A41-8496-517C75CA4DE5}"/>
              </a:ext>
            </a:extLst>
          </p:cNvPr>
          <p:cNvSpPr/>
          <p:nvPr/>
        </p:nvSpPr>
        <p:spPr>
          <a:xfrm>
            <a:off x="308610" y="558788"/>
            <a:ext cx="10515600" cy="245883"/>
          </a:xfrm>
          <a:prstGeom prst="rect">
            <a:avLst/>
          </a:prstGeom>
          <a:noFill/>
          <a:ln/>
        </p:spPr>
        <p:txBody>
          <a:bodyPr wrap="square" lIns="0" tIns="0" rIns="0" bIns="0" rtlCol="0" anchor="ctr"/>
          <a:lstStyle/>
          <a:p>
            <a:pPr marL="0" indent="0">
              <a:buNone/>
            </a:pPr>
            <a:r>
              <a:rPr lang="en-US" sz="1400" dirty="0">
                <a:latin typeface="Times New Roman" panose="02020603050405020304" pitchFamily="18" charset="0"/>
                <a:cs typeface="Times New Roman" panose="02020603050405020304" pitchFamily="18" charset="0"/>
              </a:rPr>
              <a:t>Where risk and treatment access require attention</a:t>
            </a:r>
          </a:p>
        </p:txBody>
      </p:sp>
      <p:sp>
        <p:nvSpPr>
          <p:cNvPr id="30" name="Shape 4">
            <a:extLst>
              <a:ext uri="{FF2B5EF4-FFF2-40B4-BE49-F238E27FC236}">
                <a16:creationId xmlns:a16="http://schemas.microsoft.com/office/drawing/2014/main" id="{33411FAF-DE18-E788-89BB-F5D2FDF6A7CC}"/>
              </a:ext>
            </a:extLst>
          </p:cNvPr>
          <p:cNvSpPr/>
          <p:nvPr/>
        </p:nvSpPr>
        <p:spPr>
          <a:xfrm>
            <a:off x="180878" y="3877773"/>
            <a:ext cx="3600000" cy="1368000"/>
          </a:xfrm>
          <a:prstGeom prst="roundRect">
            <a:avLst>
              <a:gd name="adj" fmla="val 5926"/>
            </a:avLst>
          </a:prstGeom>
          <a:solidFill>
            <a:srgbClr val="E6F4FA"/>
          </a:solidFill>
          <a:ln w="15240">
            <a:solidFill>
              <a:srgbClr val="B7DFF0"/>
            </a:solidFill>
            <a:prstDash val="solid"/>
          </a:ln>
        </p:spPr>
        <p:txBody>
          <a:bodyPr/>
          <a:lstStyle/>
          <a:p>
            <a:endParaRPr lang="en-GB"/>
          </a:p>
        </p:txBody>
      </p:sp>
      <p:sp>
        <p:nvSpPr>
          <p:cNvPr id="31" name="Text 5">
            <a:extLst>
              <a:ext uri="{FF2B5EF4-FFF2-40B4-BE49-F238E27FC236}">
                <a16:creationId xmlns:a16="http://schemas.microsoft.com/office/drawing/2014/main" id="{B65C2F53-71F0-EBD6-FEEA-A1342AEA3C0B}"/>
              </a:ext>
            </a:extLst>
          </p:cNvPr>
          <p:cNvSpPr/>
          <p:nvPr/>
        </p:nvSpPr>
        <p:spPr>
          <a:xfrm>
            <a:off x="237193" y="4142232"/>
            <a:ext cx="2451144" cy="155448"/>
          </a:xfrm>
          <a:prstGeom prst="rect">
            <a:avLst/>
          </a:prstGeom>
          <a:noFill/>
          <a:ln/>
        </p:spPr>
        <p:txBody>
          <a:bodyPr wrap="square" lIns="0" tIns="0" rIns="0" bIns="0" rtlCol="0" anchor="ctr"/>
          <a:lstStyle/>
          <a:p>
            <a:pPr marL="0" indent="0">
              <a:buNone/>
            </a:pPr>
            <a:r>
              <a:rPr lang="en-US" sz="1600" b="1" dirty="0">
                <a:solidFill>
                  <a:srgbClr val="1F2937"/>
                </a:solidFill>
                <a:latin typeface="Calibri" panose="020F0502020204030204" pitchFamily="34" charset="0"/>
                <a:ea typeface="Calibri" panose="020F0502020204030204" pitchFamily="34" charset="0"/>
                <a:cs typeface="Calibri" panose="020F0502020204030204" pitchFamily="34" charset="0"/>
              </a:rPr>
              <a:t>Mortality risk</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32" name="Text 6">
            <a:extLst>
              <a:ext uri="{FF2B5EF4-FFF2-40B4-BE49-F238E27FC236}">
                <a16:creationId xmlns:a16="http://schemas.microsoft.com/office/drawing/2014/main" id="{FAF3310E-4130-298F-414C-BBF2ECEDE09C}"/>
              </a:ext>
            </a:extLst>
          </p:cNvPr>
          <p:cNvSpPr/>
          <p:nvPr/>
        </p:nvSpPr>
        <p:spPr>
          <a:xfrm>
            <a:off x="308610" y="4396574"/>
            <a:ext cx="3348265" cy="733209"/>
          </a:xfrm>
          <a:prstGeom prst="rect">
            <a:avLst/>
          </a:prstGeom>
          <a:noFill/>
          <a:ln/>
        </p:spPr>
        <p:txBody>
          <a:bodyPr wrap="square" lIns="254" tIns="254" rIns="254" bIns="254" rtlCol="0" anchor="ctr">
            <a:noAutofit/>
          </a:bodyPr>
          <a:lstStyle/>
          <a:p>
            <a:pPr marL="0" indent="0">
              <a:lnSpc>
                <a:spcPct val="150000"/>
              </a:lnSpc>
              <a:buNone/>
            </a:pPr>
            <a:r>
              <a:rPr lang="en-US" sz="1400" dirty="0">
                <a:solidFill>
                  <a:srgbClr val="111827"/>
                </a:solidFill>
                <a:latin typeface="Times New Roman" panose="02020603050405020304" pitchFamily="18" charset="0"/>
                <a:cs typeface="Times New Roman" panose="02020603050405020304" pitchFamily="18" charset="0"/>
              </a:rPr>
              <a:t>Deaths per 1,000 new infections highlight countries where HIV-related deaths are high relative to new infection counts.</a:t>
            </a:r>
            <a:endParaRPr lang="en-US" sz="1400" dirty="0">
              <a:latin typeface="Times New Roman" panose="02020603050405020304" pitchFamily="18" charset="0"/>
              <a:cs typeface="Times New Roman" panose="02020603050405020304" pitchFamily="18" charset="0"/>
            </a:endParaRPr>
          </a:p>
        </p:txBody>
      </p:sp>
      <p:sp>
        <p:nvSpPr>
          <p:cNvPr id="33" name="Shape 7">
            <a:extLst>
              <a:ext uri="{FF2B5EF4-FFF2-40B4-BE49-F238E27FC236}">
                <a16:creationId xmlns:a16="http://schemas.microsoft.com/office/drawing/2014/main" id="{44A575F6-D526-A6A7-6DFF-E514ABE9C86E}"/>
              </a:ext>
            </a:extLst>
          </p:cNvPr>
          <p:cNvSpPr/>
          <p:nvPr/>
        </p:nvSpPr>
        <p:spPr>
          <a:xfrm>
            <a:off x="4073321" y="3877773"/>
            <a:ext cx="3600000" cy="1368000"/>
          </a:xfrm>
          <a:prstGeom prst="roundRect">
            <a:avLst>
              <a:gd name="adj" fmla="val 5926"/>
            </a:avLst>
          </a:prstGeom>
          <a:solidFill>
            <a:srgbClr val="E6F4FA"/>
          </a:solidFill>
          <a:ln w="15240">
            <a:solidFill>
              <a:srgbClr val="B7DFF0"/>
            </a:solidFill>
            <a:prstDash val="solid"/>
          </a:ln>
        </p:spPr>
        <p:txBody>
          <a:bodyPr/>
          <a:lstStyle/>
          <a:p>
            <a:endParaRPr lang="en-GB"/>
          </a:p>
        </p:txBody>
      </p:sp>
      <p:sp>
        <p:nvSpPr>
          <p:cNvPr id="34" name="Text 8">
            <a:extLst>
              <a:ext uri="{FF2B5EF4-FFF2-40B4-BE49-F238E27FC236}">
                <a16:creationId xmlns:a16="http://schemas.microsoft.com/office/drawing/2014/main" id="{5737A6CC-3BE6-8C2B-2F48-1210922BD2EB}"/>
              </a:ext>
            </a:extLst>
          </p:cNvPr>
          <p:cNvSpPr/>
          <p:nvPr/>
        </p:nvSpPr>
        <p:spPr>
          <a:xfrm>
            <a:off x="4078225" y="3977640"/>
            <a:ext cx="2377439" cy="320040"/>
          </a:xfrm>
          <a:prstGeom prst="rect">
            <a:avLst/>
          </a:prstGeom>
          <a:noFill/>
          <a:ln/>
        </p:spPr>
        <p:txBody>
          <a:bodyPr wrap="square" lIns="0" tIns="0" rIns="0" bIns="0" rtlCol="0" anchor="ctr"/>
          <a:lstStyle/>
          <a:p>
            <a:pPr marL="0" indent="0">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Infection vs treatment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5" name="Text 9">
            <a:extLst>
              <a:ext uri="{FF2B5EF4-FFF2-40B4-BE49-F238E27FC236}">
                <a16:creationId xmlns:a16="http://schemas.microsoft.com/office/drawing/2014/main" id="{B8009B95-D9E8-019A-E5F6-07D8CA84B972}"/>
              </a:ext>
            </a:extLst>
          </p:cNvPr>
          <p:cNvSpPr/>
          <p:nvPr/>
        </p:nvSpPr>
        <p:spPr>
          <a:xfrm>
            <a:off x="4078224" y="4480560"/>
            <a:ext cx="3410712" cy="649224"/>
          </a:xfrm>
          <a:prstGeom prst="rect">
            <a:avLst/>
          </a:prstGeom>
          <a:noFill/>
          <a:ln/>
        </p:spPr>
        <p:txBody>
          <a:bodyPr wrap="square" lIns="254" tIns="254" rIns="254" bIns="254" rtlCol="0" anchor="ctr">
            <a:noAutofit/>
          </a:bodyPr>
          <a:lstStyle/>
          <a:p>
            <a:pPr marL="0" indent="0">
              <a:lnSpc>
                <a:spcPct val="150000"/>
              </a:lnSpc>
              <a:buNone/>
            </a:pPr>
            <a:r>
              <a:rPr lang="en-US" sz="1400" dirty="0">
                <a:solidFill>
                  <a:srgbClr val="111827"/>
                </a:solidFill>
                <a:latin typeface="Times New Roman" panose="02020603050405020304" pitchFamily="18" charset="0"/>
                <a:cs typeface="Times New Roman" panose="02020603050405020304" pitchFamily="18" charset="0"/>
              </a:rPr>
              <a:t>The decomposition tree helps assess whether high-infection countries have adequate ART coverage.</a:t>
            </a:r>
            <a:endParaRPr lang="en-US" sz="1400" dirty="0">
              <a:latin typeface="Times New Roman" panose="02020603050405020304" pitchFamily="18" charset="0"/>
              <a:cs typeface="Times New Roman" panose="02020603050405020304" pitchFamily="18" charset="0"/>
            </a:endParaRPr>
          </a:p>
        </p:txBody>
      </p:sp>
      <p:sp>
        <p:nvSpPr>
          <p:cNvPr id="36" name="Shape 10">
            <a:extLst>
              <a:ext uri="{FF2B5EF4-FFF2-40B4-BE49-F238E27FC236}">
                <a16:creationId xmlns:a16="http://schemas.microsoft.com/office/drawing/2014/main" id="{A6924B82-A642-1192-4F4C-AB8B7EC5DBD0}"/>
              </a:ext>
            </a:extLst>
          </p:cNvPr>
          <p:cNvSpPr/>
          <p:nvPr/>
        </p:nvSpPr>
        <p:spPr>
          <a:xfrm>
            <a:off x="7965763" y="3877773"/>
            <a:ext cx="3600000" cy="1368000"/>
          </a:xfrm>
          <a:prstGeom prst="roundRect">
            <a:avLst>
              <a:gd name="adj" fmla="val 5926"/>
            </a:avLst>
          </a:prstGeom>
          <a:solidFill>
            <a:srgbClr val="E6F4FA"/>
          </a:solidFill>
          <a:ln w="15240">
            <a:solidFill>
              <a:srgbClr val="B7DFF0"/>
            </a:solidFill>
            <a:prstDash val="solid"/>
          </a:ln>
        </p:spPr>
        <p:txBody>
          <a:bodyPr/>
          <a:lstStyle/>
          <a:p>
            <a:endParaRPr lang="en-GB" dirty="0"/>
          </a:p>
        </p:txBody>
      </p:sp>
      <p:sp>
        <p:nvSpPr>
          <p:cNvPr id="37" name="Text 11">
            <a:extLst>
              <a:ext uri="{FF2B5EF4-FFF2-40B4-BE49-F238E27FC236}">
                <a16:creationId xmlns:a16="http://schemas.microsoft.com/office/drawing/2014/main" id="{0CC9CC6E-0F1E-7F2F-9A52-3F8C3E2D237A}"/>
              </a:ext>
            </a:extLst>
          </p:cNvPr>
          <p:cNvSpPr/>
          <p:nvPr/>
        </p:nvSpPr>
        <p:spPr>
          <a:xfrm>
            <a:off x="8362951" y="4142232"/>
            <a:ext cx="2962749" cy="411480"/>
          </a:xfrm>
          <a:prstGeom prst="rect">
            <a:avLst/>
          </a:prstGeom>
          <a:noFill/>
          <a:ln/>
        </p:spPr>
        <p:txBody>
          <a:bodyPr wrap="square" lIns="0" tIns="0" rIns="0" bIns="0" rtlCol="0" anchor="ctr"/>
          <a:lstStyle/>
          <a:p>
            <a:pPr marL="0" indent="0">
              <a:buNone/>
            </a:pPr>
            <a:r>
              <a:rPr lang="en-US" b="1" dirty="0">
                <a:solidFill>
                  <a:srgbClr val="1F2937"/>
                </a:solidFill>
                <a:latin typeface="Calibri" panose="020F0502020204030204" pitchFamily="34" charset="0"/>
                <a:ea typeface="Calibri" panose="020F0502020204030204" pitchFamily="34" charset="0"/>
                <a:cs typeface="Calibri" panose="020F0502020204030204" pitchFamily="34" charset="0"/>
              </a:rPr>
              <a:t>Treatment access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8" name="Text 12">
            <a:extLst>
              <a:ext uri="{FF2B5EF4-FFF2-40B4-BE49-F238E27FC236}">
                <a16:creationId xmlns:a16="http://schemas.microsoft.com/office/drawing/2014/main" id="{7DBED5D4-2F62-A20E-3365-00B3D8533804}"/>
              </a:ext>
            </a:extLst>
          </p:cNvPr>
          <p:cNvSpPr/>
          <p:nvPr/>
        </p:nvSpPr>
        <p:spPr>
          <a:xfrm>
            <a:off x="8445357" y="4462271"/>
            <a:ext cx="3163712" cy="794335"/>
          </a:xfrm>
          <a:prstGeom prst="rect">
            <a:avLst/>
          </a:prstGeom>
          <a:noFill/>
          <a:ln/>
        </p:spPr>
        <p:txBody>
          <a:bodyPr wrap="square" lIns="254" tIns="254" rIns="254" bIns="254" rtlCol="0" anchor="ctr">
            <a:normAutofit fontScale="85000" lnSpcReduction="20000"/>
          </a:bodyPr>
          <a:lstStyle/>
          <a:p>
            <a:pPr marL="0" indent="0">
              <a:lnSpc>
                <a:spcPct val="150000"/>
              </a:lnSpc>
              <a:buNone/>
            </a:pPr>
            <a:r>
              <a:rPr lang="en-US" sz="1550" dirty="0">
                <a:solidFill>
                  <a:srgbClr val="111827"/>
                </a:solidFill>
                <a:latin typeface="Times New Roman" panose="02020603050405020304" pitchFamily="18" charset="0"/>
                <a:cs typeface="Times New Roman" panose="02020603050405020304" pitchFamily="18" charset="0"/>
              </a:rPr>
              <a:t>Top ART coverage countries show where treatment access is stronger and may support better survival outcomes.</a:t>
            </a:r>
            <a:endParaRPr lang="en-US" sz="1550" dirty="0">
              <a:latin typeface="Times New Roman" panose="02020603050405020304" pitchFamily="18" charset="0"/>
              <a:cs typeface="Times New Roman" panose="02020603050405020304" pitchFamily="18" charset="0"/>
            </a:endParaRPr>
          </a:p>
        </p:txBody>
      </p:sp>
      <p:pic>
        <p:nvPicPr>
          <p:cNvPr id="5" name="Picture 4" descr="The graph shows the number of deaths per 1,000 new infections, with countries listed in descending order of their death rates.&#10;&#10;AI-generated content may be incorrect.">
            <a:extLst>
              <a:ext uri="{FF2B5EF4-FFF2-40B4-BE49-F238E27FC236}">
                <a16:creationId xmlns:a16="http://schemas.microsoft.com/office/drawing/2014/main" id="{858DFF12-6AB0-6384-3754-CA4777E65FD3}"/>
              </a:ext>
            </a:extLst>
          </p:cNvPr>
          <p:cNvPicPr>
            <a:picLocks noChangeAspect="1"/>
          </p:cNvPicPr>
          <p:nvPr/>
        </p:nvPicPr>
        <p:blipFill>
          <a:blip r:embed="rId2"/>
          <a:stretch>
            <a:fillRect/>
          </a:stretch>
        </p:blipFill>
        <p:spPr>
          <a:xfrm>
            <a:off x="171735" y="853824"/>
            <a:ext cx="3600000" cy="2778839"/>
          </a:xfrm>
          <a:prstGeom prst="rect">
            <a:avLst/>
          </a:prstGeom>
        </p:spPr>
      </p:pic>
      <p:pic>
        <p:nvPicPr>
          <p:cNvPr id="7" name="Picture 6" descr="The diagram compares the number of high-infection countries against antiretroviral therapy (ART) coverage across various regions.">
            <a:extLst>
              <a:ext uri="{FF2B5EF4-FFF2-40B4-BE49-F238E27FC236}">
                <a16:creationId xmlns:a16="http://schemas.microsoft.com/office/drawing/2014/main" id="{E485DCA5-43FB-A532-292C-D7C6467ABBE0}"/>
              </a:ext>
            </a:extLst>
          </p:cNvPr>
          <p:cNvPicPr>
            <a:picLocks noChangeAspect="1"/>
          </p:cNvPicPr>
          <p:nvPr/>
        </p:nvPicPr>
        <p:blipFill>
          <a:blip r:embed="rId3"/>
          <a:stretch>
            <a:fillRect/>
          </a:stretch>
        </p:blipFill>
        <p:spPr>
          <a:xfrm>
            <a:off x="4011319" y="888719"/>
            <a:ext cx="3600000" cy="2689454"/>
          </a:xfrm>
          <a:prstGeom prst="rect">
            <a:avLst/>
          </a:prstGeom>
        </p:spPr>
      </p:pic>
      <p:pic>
        <p:nvPicPr>
          <p:cNvPr id="9" name="Picture 8" descr="The image shows a bar chart listing the top 10 countries with the highest percentage of ART (Antiretroviral therapy) coverage, with Rwanda, Botswana, Namibia, Zimbabwe, Eswatini, Lesotho, Zambia, Burundi, Saudi Arabia, and Cambodia at the top.&#10;&#10;AI-generated content may be incorrect.">
            <a:extLst>
              <a:ext uri="{FF2B5EF4-FFF2-40B4-BE49-F238E27FC236}">
                <a16:creationId xmlns:a16="http://schemas.microsoft.com/office/drawing/2014/main" id="{884BD182-D819-C5C0-B726-EADFBCB817E5}"/>
              </a:ext>
            </a:extLst>
          </p:cNvPr>
          <p:cNvPicPr>
            <a:picLocks noChangeAspect="1"/>
          </p:cNvPicPr>
          <p:nvPr/>
        </p:nvPicPr>
        <p:blipFill>
          <a:blip r:embed="rId4"/>
          <a:stretch>
            <a:fillRect/>
          </a:stretch>
        </p:blipFill>
        <p:spPr>
          <a:xfrm>
            <a:off x="7965763" y="888720"/>
            <a:ext cx="3600000" cy="2702461"/>
          </a:xfrm>
          <a:prstGeom prst="rect">
            <a:avLst/>
          </a:prstGeom>
        </p:spPr>
      </p:pic>
    </p:spTree>
    <p:extLst>
      <p:ext uri="{BB962C8B-B14F-4D97-AF65-F5344CB8AC3E}">
        <p14:creationId xmlns:p14="http://schemas.microsoft.com/office/powerpoint/2010/main" val="4261588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1">
            <a:extLst>
              <a:ext uri="{FF2B5EF4-FFF2-40B4-BE49-F238E27FC236}">
                <a16:creationId xmlns:a16="http://schemas.microsoft.com/office/drawing/2014/main" id="{3F8CB207-92B1-B33C-7568-3FB1F39B1F05}"/>
              </a:ext>
            </a:extLst>
          </p:cNvPr>
          <p:cNvSpPr/>
          <p:nvPr/>
        </p:nvSpPr>
        <p:spPr>
          <a:xfrm>
            <a:off x="0" y="6693408"/>
            <a:ext cx="12191695" cy="164592"/>
          </a:xfrm>
          <a:prstGeom prst="rect">
            <a:avLst/>
          </a:prstGeom>
          <a:solidFill>
            <a:srgbClr val="1F2937"/>
          </a:solidFill>
          <a:ln w="12700">
            <a:solidFill>
              <a:srgbClr val="1F2937"/>
            </a:solidFill>
            <a:prstDash val="solid"/>
          </a:ln>
        </p:spPr>
        <p:txBody>
          <a:bodyPr/>
          <a:lstStyle/>
          <a:p>
            <a:endParaRPr lang="en-GB"/>
          </a:p>
        </p:txBody>
      </p:sp>
      <p:sp>
        <p:nvSpPr>
          <p:cNvPr id="9" name="Text 2">
            <a:extLst>
              <a:ext uri="{FF2B5EF4-FFF2-40B4-BE49-F238E27FC236}">
                <a16:creationId xmlns:a16="http://schemas.microsoft.com/office/drawing/2014/main" id="{105143EC-2033-2BCA-DB00-13B9EEC7F574}"/>
              </a:ext>
            </a:extLst>
          </p:cNvPr>
          <p:cNvSpPr/>
          <p:nvPr/>
        </p:nvSpPr>
        <p:spPr>
          <a:xfrm>
            <a:off x="182880" y="27432"/>
            <a:ext cx="10789920" cy="484632"/>
          </a:xfrm>
          <a:prstGeom prst="rect">
            <a:avLst/>
          </a:prstGeom>
          <a:noFill/>
          <a:ln/>
        </p:spPr>
        <p:txBody>
          <a:bodyPr wrap="square" lIns="0" tIns="0" rIns="0" bIns="0" rtlCol="0" anchor="ctr"/>
          <a:lstStyle/>
          <a:p>
            <a:pPr marL="0" indent="0">
              <a:buNone/>
            </a:pPr>
            <a:r>
              <a:rPr lang="en-US" sz="3600" b="1" dirty="0">
                <a:latin typeface="Calibri" panose="020F0502020204030204" pitchFamily="34" charset="0"/>
                <a:ea typeface="Calibri" panose="020F0502020204030204" pitchFamily="34" charset="0"/>
                <a:cs typeface="Calibri" panose="020F0502020204030204" pitchFamily="34" charset="0"/>
              </a:rPr>
              <a:t>Recommendations</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3">
            <a:extLst>
              <a:ext uri="{FF2B5EF4-FFF2-40B4-BE49-F238E27FC236}">
                <a16:creationId xmlns:a16="http://schemas.microsoft.com/office/drawing/2014/main" id="{2F9C094B-D0DE-17E8-05CC-364CBE7CCA22}"/>
              </a:ext>
            </a:extLst>
          </p:cNvPr>
          <p:cNvSpPr/>
          <p:nvPr/>
        </p:nvSpPr>
        <p:spPr>
          <a:xfrm>
            <a:off x="1106424" y="475489"/>
            <a:ext cx="10515600" cy="274320"/>
          </a:xfrm>
          <a:prstGeom prst="rect">
            <a:avLst/>
          </a:prstGeom>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Actionable steps for decision-making</a:t>
            </a:r>
          </a:p>
        </p:txBody>
      </p:sp>
      <p:sp>
        <p:nvSpPr>
          <p:cNvPr id="11" name="Shape 4">
            <a:extLst>
              <a:ext uri="{FF2B5EF4-FFF2-40B4-BE49-F238E27FC236}">
                <a16:creationId xmlns:a16="http://schemas.microsoft.com/office/drawing/2014/main" id="{830B0D1C-A923-6F30-CADB-BDBE1666CF8D}"/>
              </a:ext>
            </a:extLst>
          </p:cNvPr>
          <p:cNvSpPr/>
          <p:nvPr/>
        </p:nvSpPr>
        <p:spPr>
          <a:xfrm>
            <a:off x="685800" y="1197864"/>
            <a:ext cx="329184" cy="329184"/>
          </a:xfrm>
          <a:prstGeom prst="ellipse">
            <a:avLst/>
          </a:prstGeom>
          <a:solidFill>
            <a:srgbClr val="009CDE"/>
          </a:solidFill>
          <a:ln w="12700">
            <a:solidFill>
              <a:srgbClr val="009CDE"/>
            </a:solidFill>
            <a:prstDash val="solid"/>
          </a:ln>
        </p:spPr>
        <p:txBody>
          <a:bodyPr/>
          <a:lstStyle/>
          <a:p>
            <a:endParaRPr lang="en-GB"/>
          </a:p>
        </p:txBody>
      </p:sp>
      <p:sp>
        <p:nvSpPr>
          <p:cNvPr id="12" name="Text 5">
            <a:extLst>
              <a:ext uri="{FF2B5EF4-FFF2-40B4-BE49-F238E27FC236}">
                <a16:creationId xmlns:a16="http://schemas.microsoft.com/office/drawing/2014/main" id="{810C39CC-E06F-7F80-5463-9A1FE7B0081F}"/>
              </a:ext>
            </a:extLst>
          </p:cNvPr>
          <p:cNvSpPr/>
          <p:nvPr/>
        </p:nvSpPr>
        <p:spPr>
          <a:xfrm>
            <a:off x="685800" y="1271016"/>
            <a:ext cx="329184" cy="146304"/>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3" name="Text 6">
            <a:extLst>
              <a:ext uri="{FF2B5EF4-FFF2-40B4-BE49-F238E27FC236}">
                <a16:creationId xmlns:a16="http://schemas.microsoft.com/office/drawing/2014/main" id="{E2128D87-A1E1-83B5-209D-47543A79554C}"/>
              </a:ext>
            </a:extLst>
          </p:cNvPr>
          <p:cNvSpPr/>
          <p:nvPr/>
        </p:nvSpPr>
        <p:spPr>
          <a:xfrm>
            <a:off x="1188720" y="1165860"/>
            <a:ext cx="2743200" cy="274320"/>
          </a:xfrm>
          <a:prstGeom prst="rect">
            <a:avLst/>
          </a:prstGeom>
          <a:noFill/>
          <a:ln/>
        </p:spPr>
        <p:txBody>
          <a:bodyPr wrap="square" lIns="0" tIns="0" rIns="0" bIns="0" rtlCol="0" anchor="ctr"/>
          <a:lstStyle/>
          <a:p>
            <a:pPr marL="0" indent="0">
              <a:buNone/>
            </a:pPr>
            <a:r>
              <a:rPr lang="en-US" sz="1700" b="1" dirty="0">
                <a:latin typeface="Times New Roman" panose="02020603050405020304" pitchFamily="18" charset="0"/>
                <a:cs typeface="Times New Roman" panose="02020603050405020304" pitchFamily="18" charset="0"/>
              </a:rPr>
              <a:t>Expand ART coverage</a:t>
            </a:r>
            <a:endParaRPr lang="en-US" sz="1700" dirty="0">
              <a:latin typeface="Times New Roman" panose="02020603050405020304" pitchFamily="18" charset="0"/>
              <a:cs typeface="Times New Roman" panose="02020603050405020304" pitchFamily="18" charset="0"/>
            </a:endParaRPr>
          </a:p>
        </p:txBody>
      </p:sp>
      <p:sp>
        <p:nvSpPr>
          <p:cNvPr id="14" name="Text 7">
            <a:extLst>
              <a:ext uri="{FF2B5EF4-FFF2-40B4-BE49-F238E27FC236}">
                <a16:creationId xmlns:a16="http://schemas.microsoft.com/office/drawing/2014/main" id="{440C816E-831F-F042-B888-D8F128A6FC92}"/>
              </a:ext>
            </a:extLst>
          </p:cNvPr>
          <p:cNvSpPr/>
          <p:nvPr/>
        </p:nvSpPr>
        <p:spPr>
          <a:xfrm>
            <a:off x="4480560" y="1143000"/>
            <a:ext cx="6217920" cy="274320"/>
          </a:xfrm>
          <a:prstGeom prst="rect">
            <a:avLst/>
          </a:prstGeom>
          <a:noFill/>
          <a:ln/>
        </p:spPr>
        <p:txBody>
          <a:bodyPr wrap="square" lIns="0" tIns="0" rIns="0" bIns="0" rtlCol="0" anchor="ctr"/>
          <a:lstStyle/>
          <a:p>
            <a:pPr marL="0" indent="0">
              <a:buNone/>
            </a:pPr>
            <a:r>
              <a:rPr lang="en-US" sz="1600" dirty="0">
                <a:solidFill>
                  <a:srgbClr val="25E0D7"/>
                </a:solidFill>
                <a:latin typeface="Times New Roman" panose="02020603050405020304" pitchFamily="18" charset="0"/>
                <a:cs typeface="Times New Roman" panose="02020603050405020304" pitchFamily="18" charset="0"/>
              </a:rPr>
              <a:t>Prioritise countries with high infections and low treatment access.</a:t>
            </a:r>
          </a:p>
        </p:txBody>
      </p:sp>
      <p:sp>
        <p:nvSpPr>
          <p:cNvPr id="15" name="Shape 8">
            <a:extLst>
              <a:ext uri="{FF2B5EF4-FFF2-40B4-BE49-F238E27FC236}">
                <a16:creationId xmlns:a16="http://schemas.microsoft.com/office/drawing/2014/main" id="{E5E2C260-34F3-6CFD-87CD-DE38E792FB7D}"/>
              </a:ext>
            </a:extLst>
          </p:cNvPr>
          <p:cNvSpPr/>
          <p:nvPr/>
        </p:nvSpPr>
        <p:spPr>
          <a:xfrm>
            <a:off x="1188720" y="1709928"/>
            <a:ext cx="9784080" cy="0"/>
          </a:xfrm>
          <a:prstGeom prst="line">
            <a:avLst/>
          </a:prstGeom>
          <a:noFill/>
          <a:ln w="10160">
            <a:solidFill>
              <a:srgbClr val="B7DFF0"/>
            </a:solidFill>
            <a:prstDash val="solid"/>
          </a:ln>
        </p:spPr>
        <p:txBody>
          <a:bodyPr/>
          <a:lstStyle/>
          <a:p>
            <a:endParaRPr lang="en-GB"/>
          </a:p>
        </p:txBody>
      </p:sp>
      <p:sp>
        <p:nvSpPr>
          <p:cNvPr id="16" name="Shape 9">
            <a:extLst>
              <a:ext uri="{FF2B5EF4-FFF2-40B4-BE49-F238E27FC236}">
                <a16:creationId xmlns:a16="http://schemas.microsoft.com/office/drawing/2014/main" id="{4444EADB-A649-2F49-234D-BC10B3B7FC19}"/>
              </a:ext>
            </a:extLst>
          </p:cNvPr>
          <p:cNvSpPr/>
          <p:nvPr/>
        </p:nvSpPr>
        <p:spPr>
          <a:xfrm>
            <a:off x="685800" y="2157984"/>
            <a:ext cx="329184" cy="329184"/>
          </a:xfrm>
          <a:prstGeom prst="ellipse">
            <a:avLst/>
          </a:prstGeom>
          <a:solidFill>
            <a:srgbClr val="009CDE"/>
          </a:solidFill>
          <a:ln w="12700">
            <a:solidFill>
              <a:srgbClr val="009CDE"/>
            </a:solidFill>
            <a:prstDash val="solid"/>
          </a:ln>
        </p:spPr>
        <p:txBody>
          <a:bodyPr/>
          <a:lstStyle/>
          <a:p>
            <a:endParaRPr lang="en-GB"/>
          </a:p>
        </p:txBody>
      </p:sp>
      <p:sp>
        <p:nvSpPr>
          <p:cNvPr id="17" name="Text 10">
            <a:extLst>
              <a:ext uri="{FF2B5EF4-FFF2-40B4-BE49-F238E27FC236}">
                <a16:creationId xmlns:a16="http://schemas.microsoft.com/office/drawing/2014/main" id="{3897874B-A2BE-300C-0935-50EADD00CC07}"/>
              </a:ext>
            </a:extLst>
          </p:cNvPr>
          <p:cNvSpPr/>
          <p:nvPr/>
        </p:nvSpPr>
        <p:spPr>
          <a:xfrm>
            <a:off x="685800" y="2231136"/>
            <a:ext cx="329184" cy="146304"/>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8" name="Text 11">
            <a:extLst>
              <a:ext uri="{FF2B5EF4-FFF2-40B4-BE49-F238E27FC236}">
                <a16:creationId xmlns:a16="http://schemas.microsoft.com/office/drawing/2014/main" id="{6B95A2F3-A290-059C-75C5-B7D718158C31}"/>
              </a:ext>
            </a:extLst>
          </p:cNvPr>
          <p:cNvSpPr/>
          <p:nvPr/>
        </p:nvSpPr>
        <p:spPr>
          <a:xfrm>
            <a:off x="1188720" y="1947672"/>
            <a:ext cx="2743200" cy="539496"/>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cs typeface="Times New Roman" panose="02020603050405020304" pitchFamily="18" charset="0"/>
              </a:rPr>
              <a:t>Target high-mortality countries</a:t>
            </a:r>
            <a:endParaRPr lang="en-US" dirty="0">
              <a:latin typeface="Times New Roman" panose="02020603050405020304" pitchFamily="18" charset="0"/>
              <a:cs typeface="Times New Roman" panose="02020603050405020304" pitchFamily="18" charset="0"/>
            </a:endParaRPr>
          </a:p>
        </p:txBody>
      </p:sp>
      <p:sp>
        <p:nvSpPr>
          <p:cNvPr id="19" name="Text 12">
            <a:extLst>
              <a:ext uri="{FF2B5EF4-FFF2-40B4-BE49-F238E27FC236}">
                <a16:creationId xmlns:a16="http://schemas.microsoft.com/office/drawing/2014/main" id="{C0E5BB19-8FFA-1E20-BC14-0A2E24E27257}"/>
              </a:ext>
            </a:extLst>
          </p:cNvPr>
          <p:cNvSpPr/>
          <p:nvPr/>
        </p:nvSpPr>
        <p:spPr>
          <a:xfrm>
            <a:off x="4480560" y="2103120"/>
            <a:ext cx="6217920" cy="274320"/>
          </a:xfrm>
          <a:prstGeom prst="rect">
            <a:avLst/>
          </a:prstGeom>
          <a:noFill/>
          <a:ln/>
        </p:spPr>
        <p:txBody>
          <a:bodyPr wrap="square" lIns="0" tIns="0" rIns="0" bIns="0" rtlCol="0" anchor="ctr"/>
          <a:lstStyle/>
          <a:p>
            <a:pPr marL="0" indent="0">
              <a:buNone/>
            </a:pPr>
            <a:r>
              <a:rPr lang="en-US" sz="1600" dirty="0">
                <a:solidFill>
                  <a:srgbClr val="25E0D7"/>
                </a:solidFill>
              </a:rPr>
              <a:t>Focus intervention resources where death rate is highest.</a:t>
            </a:r>
          </a:p>
        </p:txBody>
      </p:sp>
      <p:sp>
        <p:nvSpPr>
          <p:cNvPr id="20" name="Shape 13">
            <a:extLst>
              <a:ext uri="{FF2B5EF4-FFF2-40B4-BE49-F238E27FC236}">
                <a16:creationId xmlns:a16="http://schemas.microsoft.com/office/drawing/2014/main" id="{A322D8C9-3F4B-8739-BDE4-1791941DB8E2}"/>
              </a:ext>
            </a:extLst>
          </p:cNvPr>
          <p:cNvSpPr/>
          <p:nvPr/>
        </p:nvSpPr>
        <p:spPr>
          <a:xfrm>
            <a:off x="1188720" y="2670048"/>
            <a:ext cx="9784080" cy="0"/>
          </a:xfrm>
          <a:prstGeom prst="line">
            <a:avLst/>
          </a:prstGeom>
          <a:noFill/>
          <a:ln w="10160">
            <a:solidFill>
              <a:srgbClr val="B7DFF0"/>
            </a:solidFill>
            <a:prstDash val="solid"/>
          </a:ln>
        </p:spPr>
        <p:txBody>
          <a:bodyPr/>
          <a:lstStyle/>
          <a:p>
            <a:endParaRPr lang="en-GB"/>
          </a:p>
        </p:txBody>
      </p:sp>
      <p:sp>
        <p:nvSpPr>
          <p:cNvPr id="21" name="Shape 14">
            <a:extLst>
              <a:ext uri="{FF2B5EF4-FFF2-40B4-BE49-F238E27FC236}">
                <a16:creationId xmlns:a16="http://schemas.microsoft.com/office/drawing/2014/main" id="{109530B5-418F-9A07-F7F0-0B13DE3DEA9D}"/>
              </a:ext>
            </a:extLst>
          </p:cNvPr>
          <p:cNvSpPr/>
          <p:nvPr/>
        </p:nvSpPr>
        <p:spPr>
          <a:xfrm>
            <a:off x="685800" y="3118104"/>
            <a:ext cx="329184" cy="329184"/>
          </a:xfrm>
          <a:prstGeom prst="ellipse">
            <a:avLst/>
          </a:prstGeom>
          <a:solidFill>
            <a:srgbClr val="009CDE"/>
          </a:solidFill>
          <a:ln w="12700">
            <a:solidFill>
              <a:srgbClr val="009CDE"/>
            </a:solidFill>
            <a:prstDash val="solid"/>
          </a:ln>
        </p:spPr>
        <p:txBody>
          <a:bodyPr/>
          <a:lstStyle/>
          <a:p>
            <a:endParaRPr lang="en-GB"/>
          </a:p>
        </p:txBody>
      </p:sp>
      <p:sp>
        <p:nvSpPr>
          <p:cNvPr id="22" name="Text 15">
            <a:extLst>
              <a:ext uri="{FF2B5EF4-FFF2-40B4-BE49-F238E27FC236}">
                <a16:creationId xmlns:a16="http://schemas.microsoft.com/office/drawing/2014/main" id="{7C0E7B66-0A8E-B39B-A0E7-250A5C682460}"/>
              </a:ext>
            </a:extLst>
          </p:cNvPr>
          <p:cNvSpPr/>
          <p:nvPr/>
        </p:nvSpPr>
        <p:spPr>
          <a:xfrm>
            <a:off x="685800" y="3191256"/>
            <a:ext cx="329184" cy="146304"/>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3" name="Text 16">
            <a:extLst>
              <a:ext uri="{FF2B5EF4-FFF2-40B4-BE49-F238E27FC236}">
                <a16:creationId xmlns:a16="http://schemas.microsoft.com/office/drawing/2014/main" id="{39C4B21F-0085-503A-354D-F365D3E2135E}"/>
              </a:ext>
            </a:extLst>
          </p:cNvPr>
          <p:cNvSpPr/>
          <p:nvPr/>
        </p:nvSpPr>
        <p:spPr>
          <a:xfrm>
            <a:off x="1188720" y="3063239"/>
            <a:ext cx="2743200" cy="480059"/>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cs typeface="Times New Roman" panose="02020603050405020304" pitchFamily="18" charset="0"/>
              </a:rPr>
              <a:t>Strengthen prevention campaigns</a:t>
            </a:r>
            <a:endParaRPr lang="en-US" dirty="0">
              <a:latin typeface="Times New Roman" panose="02020603050405020304" pitchFamily="18" charset="0"/>
              <a:cs typeface="Times New Roman" panose="02020603050405020304" pitchFamily="18" charset="0"/>
            </a:endParaRPr>
          </a:p>
        </p:txBody>
      </p:sp>
      <p:sp>
        <p:nvSpPr>
          <p:cNvPr id="24" name="Text 17">
            <a:extLst>
              <a:ext uri="{FF2B5EF4-FFF2-40B4-BE49-F238E27FC236}">
                <a16:creationId xmlns:a16="http://schemas.microsoft.com/office/drawing/2014/main" id="{55D3355F-775B-E798-ABEE-556EEF2D6C3C}"/>
              </a:ext>
            </a:extLst>
          </p:cNvPr>
          <p:cNvSpPr/>
          <p:nvPr/>
        </p:nvSpPr>
        <p:spPr>
          <a:xfrm>
            <a:off x="4480560" y="2852928"/>
            <a:ext cx="6522720" cy="690370"/>
          </a:xfrm>
          <a:prstGeom prst="rect">
            <a:avLst/>
          </a:prstGeom>
          <a:noFill/>
          <a:ln/>
        </p:spPr>
        <p:txBody>
          <a:bodyPr wrap="square" lIns="0" tIns="0" rIns="0" bIns="0" rtlCol="0" anchor="ctr"/>
          <a:lstStyle/>
          <a:p>
            <a:pPr marL="0" indent="0">
              <a:buNone/>
            </a:pPr>
            <a:r>
              <a:rPr lang="en-US" sz="1600" dirty="0">
                <a:solidFill>
                  <a:srgbClr val="25E0D7"/>
                </a:solidFill>
                <a:latin typeface="Times New Roman" panose="02020603050405020304" pitchFamily="18" charset="0"/>
                <a:cs typeface="Times New Roman" panose="02020603050405020304" pitchFamily="18" charset="0"/>
              </a:rPr>
              <a:t>Reduce new infections through education, testing and prevention programmes.</a:t>
            </a:r>
          </a:p>
        </p:txBody>
      </p:sp>
      <p:sp>
        <p:nvSpPr>
          <p:cNvPr id="25" name="Shape 18">
            <a:extLst>
              <a:ext uri="{FF2B5EF4-FFF2-40B4-BE49-F238E27FC236}">
                <a16:creationId xmlns:a16="http://schemas.microsoft.com/office/drawing/2014/main" id="{F756FF70-7B3A-9FBB-933E-3D07B460174B}"/>
              </a:ext>
            </a:extLst>
          </p:cNvPr>
          <p:cNvSpPr/>
          <p:nvPr/>
        </p:nvSpPr>
        <p:spPr>
          <a:xfrm>
            <a:off x="1188720" y="3630168"/>
            <a:ext cx="9784080" cy="0"/>
          </a:xfrm>
          <a:prstGeom prst="line">
            <a:avLst/>
          </a:prstGeom>
          <a:noFill/>
          <a:ln w="10160">
            <a:solidFill>
              <a:srgbClr val="B7DFF0"/>
            </a:solidFill>
            <a:prstDash val="solid"/>
          </a:ln>
        </p:spPr>
        <p:txBody>
          <a:bodyPr/>
          <a:lstStyle/>
          <a:p>
            <a:endParaRPr lang="en-GB"/>
          </a:p>
        </p:txBody>
      </p:sp>
      <p:sp>
        <p:nvSpPr>
          <p:cNvPr id="26" name="Shape 19">
            <a:extLst>
              <a:ext uri="{FF2B5EF4-FFF2-40B4-BE49-F238E27FC236}">
                <a16:creationId xmlns:a16="http://schemas.microsoft.com/office/drawing/2014/main" id="{3F8627F0-CCDD-A9F1-9941-8500A2871903}"/>
              </a:ext>
            </a:extLst>
          </p:cNvPr>
          <p:cNvSpPr/>
          <p:nvPr/>
        </p:nvSpPr>
        <p:spPr>
          <a:xfrm>
            <a:off x="685800" y="4078224"/>
            <a:ext cx="329184" cy="329184"/>
          </a:xfrm>
          <a:prstGeom prst="ellipse">
            <a:avLst/>
          </a:prstGeom>
          <a:solidFill>
            <a:srgbClr val="009CDE"/>
          </a:solidFill>
          <a:ln w="12700">
            <a:solidFill>
              <a:srgbClr val="009CDE"/>
            </a:solidFill>
            <a:prstDash val="solid"/>
          </a:ln>
        </p:spPr>
        <p:txBody>
          <a:bodyPr/>
          <a:lstStyle/>
          <a:p>
            <a:endParaRPr lang="en-GB"/>
          </a:p>
        </p:txBody>
      </p:sp>
      <p:sp>
        <p:nvSpPr>
          <p:cNvPr id="27" name="Text 20">
            <a:extLst>
              <a:ext uri="{FF2B5EF4-FFF2-40B4-BE49-F238E27FC236}">
                <a16:creationId xmlns:a16="http://schemas.microsoft.com/office/drawing/2014/main" id="{6665B372-FFA1-4918-70AE-BE28FCCDB2F3}"/>
              </a:ext>
            </a:extLst>
          </p:cNvPr>
          <p:cNvSpPr/>
          <p:nvPr/>
        </p:nvSpPr>
        <p:spPr>
          <a:xfrm>
            <a:off x="685800" y="4151376"/>
            <a:ext cx="329184" cy="146304"/>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8" name="Text 21">
            <a:extLst>
              <a:ext uri="{FF2B5EF4-FFF2-40B4-BE49-F238E27FC236}">
                <a16:creationId xmlns:a16="http://schemas.microsoft.com/office/drawing/2014/main" id="{9669DDE3-97EA-5272-54F1-FD5E48E08826}"/>
              </a:ext>
            </a:extLst>
          </p:cNvPr>
          <p:cNvSpPr/>
          <p:nvPr/>
        </p:nvSpPr>
        <p:spPr>
          <a:xfrm>
            <a:off x="1188720" y="4023359"/>
            <a:ext cx="2743200" cy="480055"/>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cs typeface="Times New Roman" panose="02020603050405020304" pitchFamily="18" charset="0"/>
              </a:rPr>
              <a:t>Improve reporting quality</a:t>
            </a:r>
            <a:endParaRPr lang="en-US" dirty="0">
              <a:latin typeface="Times New Roman" panose="02020603050405020304" pitchFamily="18" charset="0"/>
              <a:cs typeface="Times New Roman" panose="02020603050405020304" pitchFamily="18" charset="0"/>
            </a:endParaRPr>
          </a:p>
        </p:txBody>
      </p:sp>
      <p:sp>
        <p:nvSpPr>
          <p:cNvPr id="29" name="Text 22">
            <a:extLst>
              <a:ext uri="{FF2B5EF4-FFF2-40B4-BE49-F238E27FC236}">
                <a16:creationId xmlns:a16="http://schemas.microsoft.com/office/drawing/2014/main" id="{7BFCC5F3-2F3F-733E-5324-62FEB6EA3A22}"/>
              </a:ext>
            </a:extLst>
          </p:cNvPr>
          <p:cNvSpPr/>
          <p:nvPr/>
        </p:nvSpPr>
        <p:spPr>
          <a:xfrm>
            <a:off x="4480560" y="3922777"/>
            <a:ext cx="6217920" cy="484631"/>
          </a:xfrm>
          <a:prstGeom prst="rect">
            <a:avLst/>
          </a:prstGeom>
          <a:noFill/>
          <a:ln/>
        </p:spPr>
        <p:txBody>
          <a:bodyPr wrap="square" lIns="0" tIns="0" rIns="0" bIns="0" rtlCol="0" anchor="ctr"/>
          <a:lstStyle/>
          <a:p>
            <a:pPr marL="0" indent="0">
              <a:buNone/>
            </a:pPr>
            <a:r>
              <a:rPr lang="en-US" sz="1600" dirty="0">
                <a:solidFill>
                  <a:srgbClr val="25E0D7"/>
                </a:solidFill>
                <a:latin typeface="Times New Roman" panose="02020603050405020304" pitchFamily="18" charset="0"/>
                <a:cs typeface="Times New Roman" panose="02020603050405020304" pitchFamily="18" charset="0"/>
              </a:rPr>
              <a:t>Standardise country-level data collection to reduce missing values.</a:t>
            </a:r>
          </a:p>
        </p:txBody>
      </p:sp>
      <p:sp>
        <p:nvSpPr>
          <p:cNvPr id="30" name="Shape 23">
            <a:extLst>
              <a:ext uri="{FF2B5EF4-FFF2-40B4-BE49-F238E27FC236}">
                <a16:creationId xmlns:a16="http://schemas.microsoft.com/office/drawing/2014/main" id="{6E60DF99-EACE-BB46-5F2C-7DEE42AC7549}"/>
              </a:ext>
            </a:extLst>
          </p:cNvPr>
          <p:cNvSpPr/>
          <p:nvPr/>
        </p:nvSpPr>
        <p:spPr>
          <a:xfrm>
            <a:off x="1188720" y="4590288"/>
            <a:ext cx="9784080" cy="0"/>
          </a:xfrm>
          <a:prstGeom prst="line">
            <a:avLst/>
          </a:prstGeom>
          <a:noFill/>
          <a:ln w="10160">
            <a:solidFill>
              <a:srgbClr val="B7DFF0"/>
            </a:solidFill>
            <a:prstDash val="solid"/>
          </a:ln>
        </p:spPr>
        <p:txBody>
          <a:bodyPr/>
          <a:lstStyle/>
          <a:p>
            <a:endParaRPr lang="en-GB"/>
          </a:p>
        </p:txBody>
      </p:sp>
      <p:sp>
        <p:nvSpPr>
          <p:cNvPr id="31" name="Shape 24">
            <a:extLst>
              <a:ext uri="{FF2B5EF4-FFF2-40B4-BE49-F238E27FC236}">
                <a16:creationId xmlns:a16="http://schemas.microsoft.com/office/drawing/2014/main" id="{573FCB49-0951-951A-14DF-826F7DF847CE}"/>
              </a:ext>
            </a:extLst>
          </p:cNvPr>
          <p:cNvSpPr/>
          <p:nvPr/>
        </p:nvSpPr>
        <p:spPr>
          <a:xfrm>
            <a:off x="685800" y="5038344"/>
            <a:ext cx="329184" cy="329184"/>
          </a:xfrm>
          <a:prstGeom prst="ellipse">
            <a:avLst/>
          </a:prstGeom>
          <a:solidFill>
            <a:srgbClr val="009CDE"/>
          </a:solidFill>
          <a:ln w="12700">
            <a:solidFill>
              <a:srgbClr val="009CDE"/>
            </a:solidFill>
            <a:prstDash val="solid"/>
          </a:ln>
        </p:spPr>
        <p:txBody>
          <a:bodyPr/>
          <a:lstStyle/>
          <a:p>
            <a:endParaRPr lang="en-GB"/>
          </a:p>
        </p:txBody>
      </p:sp>
      <p:sp>
        <p:nvSpPr>
          <p:cNvPr id="32" name="Text 25">
            <a:extLst>
              <a:ext uri="{FF2B5EF4-FFF2-40B4-BE49-F238E27FC236}">
                <a16:creationId xmlns:a16="http://schemas.microsoft.com/office/drawing/2014/main" id="{2D1E75B6-E714-108A-45F4-A152ED49400A}"/>
              </a:ext>
            </a:extLst>
          </p:cNvPr>
          <p:cNvSpPr/>
          <p:nvPr/>
        </p:nvSpPr>
        <p:spPr>
          <a:xfrm>
            <a:off x="685800" y="5111496"/>
            <a:ext cx="329184" cy="146304"/>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3" name="Text 26">
            <a:extLst>
              <a:ext uri="{FF2B5EF4-FFF2-40B4-BE49-F238E27FC236}">
                <a16:creationId xmlns:a16="http://schemas.microsoft.com/office/drawing/2014/main" id="{22F3F9CA-C57D-5994-9EED-D56C8D87F865}"/>
              </a:ext>
            </a:extLst>
          </p:cNvPr>
          <p:cNvSpPr/>
          <p:nvPr/>
        </p:nvSpPr>
        <p:spPr>
          <a:xfrm>
            <a:off x="1188720" y="4983480"/>
            <a:ext cx="2743200" cy="27432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cs typeface="Times New Roman" panose="02020603050405020304" pitchFamily="18" charset="0"/>
              </a:rPr>
              <a:t>Monitor annually</a:t>
            </a:r>
            <a:endParaRPr lang="en-US" dirty="0">
              <a:latin typeface="Times New Roman" panose="02020603050405020304" pitchFamily="18" charset="0"/>
              <a:cs typeface="Times New Roman" panose="02020603050405020304" pitchFamily="18" charset="0"/>
            </a:endParaRPr>
          </a:p>
        </p:txBody>
      </p:sp>
      <p:sp>
        <p:nvSpPr>
          <p:cNvPr id="34" name="Text 27">
            <a:extLst>
              <a:ext uri="{FF2B5EF4-FFF2-40B4-BE49-F238E27FC236}">
                <a16:creationId xmlns:a16="http://schemas.microsoft.com/office/drawing/2014/main" id="{2300FF2C-B332-4E9D-2BCD-74B1C061B59A}"/>
              </a:ext>
            </a:extLst>
          </p:cNvPr>
          <p:cNvSpPr/>
          <p:nvPr/>
        </p:nvSpPr>
        <p:spPr>
          <a:xfrm>
            <a:off x="4480560" y="4718304"/>
            <a:ext cx="6217920" cy="539496"/>
          </a:xfrm>
          <a:prstGeom prst="rect">
            <a:avLst/>
          </a:prstGeom>
          <a:noFill/>
          <a:ln/>
        </p:spPr>
        <p:txBody>
          <a:bodyPr wrap="square" lIns="0" tIns="0" rIns="0" bIns="0" rtlCol="0" anchor="ctr"/>
          <a:lstStyle/>
          <a:p>
            <a:pPr marL="0" indent="0">
              <a:buNone/>
            </a:pPr>
            <a:r>
              <a:rPr lang="en-US" sz="1600" dirty="0">
                <a:solidFill>
                  <a:srgbClr val="25E0D7"/>
                </a:solidFill>
                <a:latin typeface="Times New Roman" panose="02020603050405020304" pitchFamily="18" charset="0"/>
                <a:cs typeface="Times New Roman" panose="02020603050405020304" pitchFamily="18" charset="0"/>
              </a:rPr>
              <a:t>Track death rate, survival rate and YoY trends to evaluate progress.</a:t>
            </a:r>
          </a:p>
        </p:txBody>
      </p:sp>
      <p:sp>
        <p:nvSpPr>
          <p:cNvPr id="35" name="Shape 28">
            <a:extLst>
              <a:ext uri="{FF2B5EF4-FFF2-40B4-BE49-F238E27FC236}">
                <a16:creationId xmlns:a16="http://schemas.microsoft.com/office/drawing/2014/main" id="{2FAEA65F-9AC6-69AF-64FD-3470206CB987}"/>
              </a:ext>
            </a:extLst>
          </p:cNvPr>
          <p:cNvSpPr/>
          <p:nvPr/>
        </p:nvSpPr>
        <p:spPr>
          <a:xfrm>
            <a:off x="1188720" y="5550408"/>
            <a:ext cx="9784080" cy="0"/>
          </a:xfrm>
          <a:prstGeom prst="line">
            <a:avLst/>
          </a:prstGeom>
          <a:noFill/>
          <a:ln w="10160">
            <a:solidFill>
              <a:srgbClr val="B7DFF0"/>
            </a:solidFill>
            <a:prstDash val="solid"/>
          </a:ln>
        </p:spPr>
        <p:txBody>
          <a:bodyPr/>
          <a:lstStyle/>
          <a:p>
            <a:endParaRPr lang="en-GB"/>
          </a:p>
        </p:txBody>
      </p:sp>
    </p:spTree>
    <p:extLst>
      <p:ext uri="{BB962C8B-B14F-4D97-AF65-F5344CB8AC3E}">
        <p14:creationId xmlns:p14="http://schemas.microsoft.com/office/powerpoint/2010/main" val="4099557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1">
            <a:extLst>
              <a:ext uri="{FF2B5EF4-FFF2-40B4-BE49-F238E27FC236}">
                <a16:creationId xmlns:a16="http://schemas.microsoft.com/office/drawing/2014/main" id="{E39D5B65-00D3-393C-4C64-43254F422C86}"/>
              </a:ext>
            </a:extLst>
          </p:cNvPr>
          <p:cNvSpPr/>
          <p:nvPr/>
        </p:nvSpPr>
        <p:spPr>
          <a:xfrm>
            <a:off x="0" y="6693408"/>
            <a:ext cx="12191695" cy="164592"/>
          </a:xfrm>
          <a:prstGeom prst="rect">
            <a:avLst/>
          </a:prstGeom>
          <a:solidFill>
            <a:srgbClr val="1F2937"/>
          </a:solidFill>
          <a:ln w="12700">
            <a:solidFill>
              <a:srgbClr val="1F2937"/>
            </a:solidFill>
            <a:prstDash val="solid"/>
          </a:ln>
        </p:spPr>
        <p:txBody>
          <a:bodyPr/>
          <a:lstStyle/>
          <a:p>
            <a:endParaRPr lang="en-GB"/>
          </a:p>
        </p:txBody>
      </p:sp>
      <p:sp>
        <p:nvSpPr>
          <p:cNvPr id="9" name="Text 2">
            <a:extLst>
              <a:ext uri="{FF2B5EF4-FFF2-40B4-BE49-F238E27FC236}">
                <a16:creationId xmlns:a16="http://schemas.microsoft.com/office/drawing/2014/main" id="{D9729513-23B4-AEDA-1974-B0AAEA6DB50F}"/>
              </a:ext>
            </a:extLst>
          </p:cNvPr>
          <p:cNvSpPr/>
          <p:nvPr/>
        </p:nvSpPr>
        <p:spPr>
          <a:xfrm>
            <a:off x="594360" y="502920"/>
            <a:ext cx="10789920" cy="502920"/>
          </a:xfrm>
          <a:prstGeom prst="rect">
            <a:avLst/>
          </a:prstGeom>
          <a:noFill/>
          <a:ln/>
        </p:spPr>
        <p:txBody>
          <a:bodyPr wrap="square" lIns="0" tIns="0" rIns="0" bIns="0" rtlCol="0" anchor="ctr"/>
          <a:lstStyle/>
          <a:p>
            <a:pPr marL="0" indent="0">
              <a:buNone/>
            </a:pPr>
            <a:r>
              <a:rPr lang="en-US" sz="3600" b="1" dirty="0">
                <a:latin typeface="Calibri" panose="020F0502020204030204" pitchFamily="34" charset="0"/>
                <a:ea typeface="Calibri" panose="020F0502020204030204" pitchFamily="34" charset="0"/>
                <a:cs typeface="Calibri" panose="020F0502020204030204" pitchFamily="34" charset="0"/>
              </a:rPr>
              <a:t>Conclusion</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3">
            <a:extLst>
              <a:ext uri="{FF2B5EF4-FFF2-40B4-BE49-F238E27FC236}">
                <a16:creationId xmlns:a16="http://schemas.microsoft.com/office/drawing/2014/main" id="{B2C378AD-C3DF-8193-ECF0-A97AF0B7C317}"/>
              </a:ext>
            </a:extLst>
          </p:cNvPr>
          <p:cNvSpPr/>
          <p:nvPr/>
        </p:nvSpPr>
        <p:spPr>
          <a:xfrm>
            <a:off x="769320" y="1417320"/>
            <a:ext cx="5220000" cy="2788920"/>
          </a:xfrm>
          <a:prstGeom prst="roundRect">
            <a:avLst>
              <a:gd name="adj" fmla="val 2623"/>
            </a:avLst>
          </a:prstGeom>
          <a:solidFill>
            <a:srgbClr val="E6F4FA"/>
          </a:solidFill>
          <a:ln w="15240">
            <a:solidFill>
              <a:srgbClr val="B7DFF0"/>
            </a:solidFill>
            <a:prstDash val="solid"/>
          </a:ln>
        </p:spPr>
        <p:txBody>
          <a:bodyPr/>
          <a:lstStyle/>
          <a:p>
            <a:endParaRPr lang="en-GB"/>
          </a:p>
        </p:txBody>
      </p:sp>
      <p:sp>
        <p:nvSpPr>
          <p:cNvPr id="12" name="Text 5">
            <a:extLst>
              <a:ext uri="{FF2B5EF4-FFF2-40B4-BE49-F238E27FC236}">
                <a16:creationId xmlns:a16="http://schemas.microsoft.com/office/drawing/2014/main" id="{A579BE86-CB04-1170-54A3-5CB28A35A1A5}"/>
              </a:ext>
            </a:extLst>
          </p:cNvPr>
          <p:cNvSpPr/>
          <p:nvPr/>
        </p:nvSpPr>
        <p:spPr>
          <a:xfrm>
            <a:off x="1027416" y="1554480"/>
            <a:ext cx="4428162" cy="2307759"/>
          </a:xfrm>
          <a:prstGeom prst="rect">
            <a:avLst/>
          </a:prstGeom>
          <a:noFill/>
          <a:ln/>
        </p:spPr>
        <p:txBody>
          <a:bodyPr wrap="square" lIns="254" tIns="254" rIns="254" bIns="254" rtlCol="0" anchor="ctr">
            <a:noAutofit/>
          </a:bodyPr>
          <a:lstStyle/>
          <a:p>
            <a:pPr marL="0" indent="0">
              <a:lnSpc>
                <a:spcPct val="150000"/>
              </a:lnSpc>
              <a:buNone/>
            </a:pPr>
            <a:r>
              <a:rPr lang="en-US" dirty="0">
                <a:solidFill>
                  <a:srgbClr val="111827"/>
                </a:solidFill>
                <a:latin typeface="Times New Roman" panose="02020603050405020304" pitchFamily="18" charset="0"/>
                <a:cs typeface="Times New Roman" panose="02020603050405020304" pitchFamily="18" charset="0"/>
              </a:rPr>
              <a:t>This report shows progress in reducing HIV infections and deaths, while also revealing country-level disparities in mortality and treatment access. Power BI helped transform multi-country HIV data into a clear dashboard for public health decision-making.</a:t>
            </a:r>
            <a:endParaRPr lang="en-US" dirty="0">
              <a:latin typeface="Times New Roman" panose="02020603050405020304" pitchFamily="18" charset="0"/>
              <a:cs typeface="Times New Roman" panose="02020603050405020304" pitchFamily="18" charset="0"/>
            </a:endParaRPr>
          </a:p>
        </p:txBody>
      </p:sp>
      <p:sp>
        <p:nvSpPr>
          <p:cNvPr id="15" name="Text 8">
            <a:extLst>
              <a:ext uri="{FF2B5EF4-FFF2-40B4-BE49-F238E27FC236}">
                <a16:creationId xmlns:a16="http://schemas.microsoft.com/office/drawing/2014/main" id="{B09AEAC0-78D6-383D-F899-4EE561470AF5}"/>
              </a:ext>
            </a:extLst>
          </p:cNvPr>
          <p:cNvSpPr/>
          <p:nvPr/>
        </p:nvSpPr>
        <p:spPr>
          <a:xfrm>
            <a:off x="6493265" y="1417320"/>
            <a:ext cx="5220000" cy="2788920"/>
          </a:xfrm>
          <a:prstGeom prst="rect">
            <a:avLst/>
          </a:prstGeom>
          <a:solidFill>
            <a:srgbClr val="E6F4FA"/>
          </a:solidFill>
          <a:ln/>
        </p:spPr>
        <p:txBody>
          <a:bodyPr wrap="square" lIns="0" tIns="0" rIns="0" bIns="0" rtlCol="0" anchor="ctr"/>
          <a:lstStyle/>
          <a:p>
            <a:pPr marL="0" indent="0" algn="ctr">
              <a:buNone/>
            </a:pPr>
            <a:r>
              <a:rPr lang="en-US" dirty="0">
                <a:solidFill>
                  <a:srgbClr val="1F2937"/>
                </a:solidFill>
                <a:latin typeface="Times New Roman" panose="02020603050405020304" pitchFamily="18" charset="0"/>
                <a:cs typeface="Times New Roman" panose="02020603050405020304" pitchFamily="18" charset="0"/>
              </a:rPr>
              <a:t>Treatment access matters, but high-risk countries still need targeted support to close gaps and reduce mortality.</a:t>
            </a:r>
            <a:endParaRPr lang="en-US" dirty="0">
              <a:latin typeface="Times New Roman" panose="02020603050405020304" pitchFamily="18" charset="0"/>
              <a:cs typeface="Times New Roman" panose="02020603050405020304" pitchFamily="18" charset="0"/>
            </a:endParaRPr>
          </a:p>
        </p:txBody>
      </p:sp>
      <p:sp>
        <p:nvSpPr>
          <p:cNvPr id="16" name="Text 9">
            <a:extLst>
              <a:ext uri="{FF2B5EF4-FFF2-40B4-BE49-F238E27FC236}">
                <a16:creationId xmlns:a16="http://schemas.microsoft.com/office/drawing/2014/main" id="{E4387887-57E9-3B84-EA02-2D4D3D7B5253}"/>
              </a:ext>
            </a:extLst>
          </p:cNvPr>
          <p:cNvSpPr/>
          <p:nvPr/>
        </p:nvSpPr>
        <p:spPr>
          <a:xfrm>
            <a:off x="1736333" y="4796901"/>
            <a:ext cx="7202184" cy="1305845"/>
          </a:xfrm>
          <a:prstGeom prst="rect">
            <a:avLst/>
          </a:prstGeom>
          <a:solidFill>
            <a:srgbClr val="E6F4FA"/>
          </a:solidFill>
          <a:ln/>
        </p:spPr>
        <p:txBody>
          <a:bodyPr wrap="square" lIns="0" tIns="0" rIns="0" bIns="0" rtlCol="0" anchor="ctr"/>
          <a:lstStyle/>
          <a:p>
            <a:pPr marL="0" indent="0" algn="ctr">
              <a:buNone/>
            </a:pPr>
            <a:r>
              <a:rPr lang="en-US" sz="4800" b="1" dirty="0">
                <a:solidFill>
                  <a:schemeClr val="accent3"/>
                </a:solidFill>
              </a:rPr>
              <a:t>Thank you!!!</a:t>
            </a:r>
            <a:endParaRPr lang="en-US" sz="4800" dirty="0">
              <a:solidFill>
                <a:schemeClr val="accent3"/>
              </a:solidFill>
            </a:endParaRPr>
          </a:p>
        </p:txBody>
      </p:sp>
    </p:spTree>
    <p:extLst>
      <p:ext uri="{BB962C8B-B14F-4D97-AF65-F5344CB8AC3E}">
        <p14:creationId xmlns:p14="http://schemas.microsoft.com/office/powerpoint/2010/main" val="354468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ylanVTI">
  <a:themeElements>
    <a:clrScheme name="Custom 8">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602636BD-A055-489B-83EC-AD971B7E5F9C}" vid="{CD33A9BC-C4B5-4F36-8A14-490DC4E38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888</Words>
  <Application>Microsoft Office PowerPoint</Application>
  <PresentationFormat>Widescreen</PresentationFormat>
  <Paragraphs>134</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Neue Haas Grotesk Text Pro</vt:lpstr>
      <vt:lpstr>Tahoma</vt:lpstr>
      <vt:lpstr>Times New Roman</vt:lpstr>
      <vt:lpstr>DylanVTI</vt:lpstr>
      <vt:lpstr>GLOBAL HIV TRENDS AND TREATMENT EFFECTIVENESS ANALYSIS</vt:lpstr>
      <vt:lpstr>Business Background &amp; Problem</vt:lpstr>
      <vt:lpstr>Problem Statement</vt:lpstr>
      <vt:lpstr>PowerPoint Presentation</vt:lpstr>
      <vt:lpstr>PowerPoint Presentation</vt:lpstr>
      <vt:lpstr>Over The Years Analysis(2000 -2004)</vt:lpstr>
      <vt:lpstr>PowerBI Dashboard Overview (Current Year)</vt:lpstr>
      <vt:lpstr>Key KPI Insights: 2024</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ibraheem ibraheem</dc:creator>
  <cp:lastModifiedBy>Mariam Adetoyi</cp:lastModifiedBy>
  <cp:revision>8</cp:revision>
  <dcterms:created xsi:type="dcterms:W3CDTF">2026-06-19T11:34:34Z</dcterms:created>
  <dcterms:modified xsi:type="dcterms:W3CDTF">2026-06-30T16:11:13Z</dcterms:modified>
</cp:coreProperties>
</file>